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p:sldMasterIdLst>
    <p:sldMasterId id="2147483684" r:id="rId1"/>
  </p:sldMasterIdLst>
  <p:sldIdLst>
    <p:sldId id="256" r:id="rId2"/>
    <p:sldId id="352" r:id="rId3"/>
    <p:sldId id="355" r:id="rId4"/>
    <p:sldId id="384" r:id="rId5"/>
    <p:sldId id="394" r:id="rId6"/>
    <p:sldId id="395" r:id="rId7"/>
    <p:sldId id="396" r:id="rId8"/>
    <p:sldId id="351" r:id="rId9"/>
    <p:sldId id="354" r:id="rId10"/>
    <p:sldId id="376" r:id="rId11"/>
    <p:sldId id="379" r:id="rId12"/>
    <p:sldId id="398" r:id="rId13"/>
    <p:sldId id="389" r:id="rId14"/>
    <p:sldId id="390" r:id="rId15"/>
    <p:sldId id="391" r:id="rId16"/>
    <p:sldId id="387" r:id="rId17"/>
    <p:sldId id="388" r:id="rId18"/>
    <p:sldId id="392" r:id="rId19"/>
    <p:sldId id="393" r:id="rId20"/>
    <p:sldId id="401" r:id="rId21"/>
    <p:sldId id="402" r:id="rId22"/>
    <p:sldId id="40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نمط متوسط 2 - تميي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النمط المتوسط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D7AC3CCA-C797-4891-BE02-D94E43425B78}" styleName="النمط المتوسط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BC89EF96-8CEA-46FF-86C4-4CE0E7609802}" styleName="نمط فاتح 3 - تميي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0A1B5D5-9B99-4C35-A422-299274C87663}" styleName="نمط متوسط 1 - تمييز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9012ECD-51FC-41F1-AA8D-1B2483CD663E}" styleName="نمط فاتح 2 - تميي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نمط متوسط 1 - تميي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DA37D80-6434-44D0-A028-1B22A696006F}" styleName="نمط فاتح 3 - تمييز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5005" autoAdjust="0"/>
    <p:restoredTop sz="94364" autoAdjust="0"/>
  </p:normalViewPr>
  <p:slideViewPr>
    <p:cSldViewPr snapToGrid="0">
      <p:cViewPr varScale="1">
        <p:scale>
          <a:sx n="80" d="100"/>
          <a:sy n="80" d="100"/>
        </p:scale>
        <p:origin x="78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beggo\Desktop\Projects\SPU\Israa\&#1605;&#1582;&#1591;&#1591;%20&#1586;&#1605;&#1606;&#1610;.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ar-SA"/>
  <c:roundedCorners val="0"/>
  <mc:AlternateContent xmlns:mc="http://schemas.openxmlformats.org/markup-compatibility/2006">
    <mc:Choice xmlns:c14="http://schemas.microsoft.com/office/drawing/2007/8/2/chart" Requires="c14">
      <c14:style val="103"/>
    </mc:Choice>
    <mc:Fallback>
      <c:style val="3"/>
    </mc:Fallback>
  </mc:AlternateContent>
  <c:chart>
    <c:title>
      <c:tx>
        <c:rich>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r>
              <a:rPr lang="ar-AE"/>
              <a:t>مخطط غانت</a:t>
            </a:r>
            <a:endParaRPr lang="en-US"/>
          </a:p>
        </c:rich>
      </c:tx>
      <c:overlay val="0"/>
      <c:spPr>
        <a:noFill/>
        <a:ln>
          <a:noFill/>
        </a:ln>
        <a:effectLst/>
      </c:spPr>
      <c:txPr>
        <a:bodyPr rot="0" spcFirstLastPara="1" vertOverflow="ellipsis" vert="horz" wrap="square" anchor="ctr" anchorCtr="1"/>
        <a:lstStyle/>
        <a:p>
          <a:pPr>
            <a:defRPr sz="1800" b="1" i="0" u="none" strike="noStrike" kern="1200" cap="all" spc="150" baseline="0">
              <a:solidFill>
                <a:schemeClr val="tx1">
                  <a:lumMod val="50000"/>
                  <a:lumOff val="50000"/>
                </a:schemeClr>
              </a:solidFill>
              <a:latin typeface="+mn-lt"/>
              <a:ea typeface="+mn-ea"/>
              <a:cs typeface="+mn-cs"/>
            </a:defRPr>
          </a:pPr>
          <a:endParaRPr lang="ar-AE"/>
        </a:p>
      </c:txPr>
    </c:title>
    <c:autoTitleDeleted val="0"/>
    <c:view3D>
      <c:rotX val="15"/>
      <c:rotY val="20"/>
      <c:depthPercent val="100"/>
      <c:rAngAx val="1"/>
    </c:view3D>
    <c:floor>
      <c:thickness val="0"/>
      <c:spPr>
        <a:noFill/>
        <a:ln w="19050" cap="flat" cmpd="sng" algn="ctr">
          <a:solidFill>
            <a:schemeClr val="tx1">
              <a:lumMod val="25000"/>
              <a:lumOff val="75000"/>
            </a:schemeClr>
          </a:solidFill>
          <a:round/>
        </a:ln>
        <a:effectLst/>
        <a:sp3d contourW="19050">
          <a:contourClr>
            <a:schemeClr val="tx1">
              <a:lumMod val="25000"/>
              <a:lumOff val="75000"/>
            </a:schemeClr>
          </a:contourClr>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v>تاريخ البدء</c:v>
          </c:tx>
          <c:spPr>
            <a:noFill/>
            <a:ln>
              <a:noFill/>
            </a:ln>
            <a:effectLst/>
            <a:sp3d/>
          </c:spPr>
          <c:invertIfNegative val="0"/>
          <c:cat>
            <c:strRef>
              <c:f>ورقة1!$A$2:$A$8</c:f>
              <c:strCache>
                <c:ptCount val="7"/>
                <c:pt idx="0">
                  <c:v>الدراسة المرجعية وجمع المتطلبات</c:v>
                </c:pt>
                <c:pt idx="1">
                  <c:v>تحديد المتطلبات</c:v>
                </c:pt>
                <c:pt idx="2">
                  <c:v>التكرار الأول (REQ-001 - REQ-005)</c:v>
                </c:pt>
                <c:pt idx="3">
                  <c:v>التكرار الثاني (REQ-006- REQ-010)</c:v>
                </c:pt>
                <c:pt idx="4">
                  <c:v>التكرار الثالث (REQ-011- REQ-015)</c:v>
                </c:pt>
                <c:pt idx="5">
                  <c:v>الاختبار</c:v>
                </c:pt>
                <c:pt idx="6">
                  <c:v>التوثيق</c:v>
                </c:pt>
              </c:strCache>
            </c:strRef>
          </c:cat>
          <c:val>
            <c:numRef>
              <c:f>ورقة1!$B$2:$B$8</c:f>
              <c:numCache>
                <c:formatCode>m/d/yyyy</c:formatCode>
                <c:ptCount val="7"/>
                <c:pt idx="0">
                  <c:v>45945</c:v>
                </c:pt>
                <c:pt idx="1">
                  <c:v>45951</c:v>
                </c:pt>
                <c:pt idx="2">
                  <c:v>45957</c:v>
                </c:pt>
                <c:pt idx="3">
                  <c:v>45972</c:v>
                </c:pt>
                <c:pt idx="4">
                  <c:v>45982</c:v>
                </c:pt>
                <c:pt idx="5">
                  <c:v>45993</c:v>
                </c:pt>
                <c:pt idx="6">
                  <c:v>45945</c:v>
                </c:pt>
              </c:numCache>
            </c:numRef>
          </c:val>
          <c:extLst>
            <c:ext xmlns:c16="http://schemas.microsoft.com/office/drawing/2014/chart" uri="{C3380CC4-5D6E-409C-BE32-E72D297353CC}">
              <c16:uniqueId val="{00000000-6E26-4391-AB56-FC9BA48E7D71}"/>
            </c:ext>
          </c:extLst>
        </c:ser>
        <c:ser>
          <c:idx val="1"/>
          <c:order val="1"/>
          <c:tx>
            <c:v>المدة</c:v>
          </c:tx>
          <c:spPr>
            <a:pattFill prst="ltDnDiag">
              <a:fgClr>
                <a:schemeClr val="accent1">
                  <a:tint val="77000"/>
                </a:schemeClr>
              </a:fgClr>
              <a:bgClr>
                <a:schemeClr val="accent1">
                  <a:tint val="77000"/>
                  <a:lumMod val="20000"/>
                  <a:lumOff val="80000"/>
                </a:schemeClr>
              </a:bgClr>
            </a:pattFill>
            <a:ln>
              <a:solidFill>
                <a:schemeClr val="accent1">
                  <a:tint val="77000"/>
                </a:schemeClr>
              </a:solidFill>
            </a:ln>
            <a:effectLst/>
            <a:sp3d>
              <a:contourClr>
                <a:schemeClr val="accent1">
                  <a:tint val="77000"/>
                </a:schemeClr>
              </a:contourClr>
            </a:sp3d>
          </c:spPr>
          <c:invertIfNegative val="0"/>
          <c:cat>
            <c:strRef>
              <c:f>ورقة1!$A$2:$A$8</c:f>
              <c:strCache>
                <c:ptCount val="7"/>
                <c:pt idx="0">
                  <c:v>الدراسة المرجعية وجمع المتطلبات</c:v>
                </c:pt>
                <c:pt idx="1">
                  <c:v>تحديد المتطلبات</c:v>
                </c:pt>
                <c:pt idx="2">
                  <c:v>التكرار الأول (REQ-001 - REQ-005)</c:v>
                </c:pt>
                <c:pt idx="3">
                  <c:v>التكرار الثاني (REQ-006- REQ-010)</c:v>
                </c:pt>
                <c:pt idx="4">
                  <c:v>التكرار الثالث (REQ-011- REQ-015)</c:v>
                </c:pt>
                <c:pt idx="5">
                  <c:v>الاختبار</c:v>
                </c:pt>
                <c:pt idx="6">
                  <c:v>التوثيق</c:v>
                </c:pt>
              </c:strCache>
            </c:strRef>
          </c:cat>
          <c:val>
            <c:numRef>
              <c:f>ورقة1!$D$2:$D$8</c:f>
              <c:numCache>
                <c:formatCode>General</c:formatCode>
                <c:ptCount val="7"/>
                <c:pt idx="0">
                  <c:v>5</c:v>
                </c:pt>
                <c:pt idx="1">
                  <c:v>5</c:v>
                </c:pt>
                <c:pt idx="2">
                  <c:v>14</c:v>
                </c:pt>
                <c:pt idx="3">
                  <c:v>9</c:v>
                </c:pt>
                <c:pt idx="4">
                  <c:v>10</c:v>
                </c:pt>
                <c:pt idx="5">
                  <c:v>10</c:v>
                </c:pt>
                <c:pt idx="6">
                  <c:v>58</c:v>
                </c:pt>
              </c:numCache>
            </c:numRef>
          </c:val>
          <c:extLst>
            <c:ext xmlns:c16="http://schemas.microsoft.com/office/drawing/2014/chart" uri="{C3380CC4-5D6E-409C-BE32-E72D297353CC}">
              <c16:uniqueId val="{00000001-6E26-4391-AB56-FC9BA48E7D71}"/>
            </c:ext>
          </c:extLst>
        </c:ser>
        <c:dLbls>
          <c:showLegendKey val="0"/>
          <c:showVal val="0"/>
          <c:showCatName val="0"/>
          <c:showSerName val="0"/>
          <c:showPercent val="0"/>
          <c:showBubbleSize val="0"/>
        </c:dLbls>
        <c:gapWidth val="75"/>
        <c:shape val="box"/>
        <c:axId val="2062720575"/>
        <c:axId val="2062731487"/>
        <c:axId val="0"/>
      </c:bar3DChart>
      <c:catAx>
        <c:axId val="2062720575"/>
        <c:scaling>
          <c:orientation val="maxMin"/>
        </c:scaling>
        <c:delete val="0"/>
        <c:axPos val="l"/>
        <c:numFmt formatCode="General" sourceLinked="1"/>
        <c:majorTickMark val="none"/>
        <c:minorTickMark val="none"/>
        <c:tickLblPos val="nextTo"/>
        <c:spPr>
          <a:noFill/>
          <a:ln w="19050"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crossAx val="2062731487"/>
        <c:crosses val="autoZero"/>
        <c:auto val="1"/>
        <c:lblAlgn val="ctr"/>
        <c:lblOffset val="100"/>
        <c:noMultiLvlLbl val="0"/>
      </c:catAx>
      <c:valAx>
        <c:axId val="2062731487"/>
        <c:scaling>
          <c:orientation val="minMax"/>
          <c:min val="45940"/>
        </c:scaling>
        <c:delete val="0"/>
        <c:axPos val="t"/>
        <c:majorGridlines>
          <c:spPr>
            <a:ln>
              <a:solidFill>
                <a:schemeClr val="tx1">
                  <a:lumMod val="15000"/>
                  <a:lumOff val="85000"/>
                </a:schemeClr>
              </a:solidFill>
            </a:ln>
            <a:effectLst/>
          </c:spPr>
        </c:majorGridlines>
        <c:numFmt formatCode="m/d/yyyy"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crossAx val="2062720575"/>
        <c:crosses val="autoZero"/>
        <c:crossBetween val="between"/>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ar-AE"/>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ar-AE"/>
    </a:p>
  </c:txPr>
  <c:externalData r:id="rId3">
    <c:autoUpdate val="0"/>
  </c:externalData>
</c:chartSpace>
</file>

<file path=ppt/charts/colors1.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299">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narHorz">
        <a:fgClr>
          <a:schemeClr val="phClr"/>
        </a:fgClr>
        <a:bgClr>
          <a:schemeClr val="phClr">
            <a:lumMod val="20000"/>
            <a:lumOff val="80000"/>
          </a:schemeClr>
        </a:bgClr>
      </a:pattFill>
      <a:effectLst>
        <a:innerShdw blurRad="114300">
          <a:schemeClr val="phClr"/>
        </a:innerShdw>
      </a:effectLst>
    </cs:spPr>
  </cs:dataPoint>
  <cs:dataPoint3D>
    <cs:lnRef idx="0">
      <cs:styleClr val="auto"/>
    </cs:lnRef>
    <cs:fillRef idx="0">
      <cs:styleClr val="auto"/>
    </cs:fillRef>
    <cs:effectRef idx="0"/>
    <cs:fontRef idx="minor">
      <a:schemeClr val="tx1"/>
    </cs:fontRef>
    <cs:spPr>
      <a:pattFill prst="ltDnDiag">
        <a:fgClr>
          <a:schemeClr val="phClr"/>
        </a:fgClr>
        <a:bgClr>
          <a:schemeClr val="phClr">
            <a:lumMod val="20000"/>
            <a:lumOff val="80000"/>
          </a:schemeClr>
        </a:bgClr>
      </a:pattFill>
      <a:ln>
        <a:solidFill>
          <a:schemeClr val="phClr"/>
        </a:solidFill>
      </a:ln>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spPr>
      <a:ln w="19050" cap="flat" cmpd="sng" algn="ctr">
        <a:solidFill>
          <a:schemeClr val="tx1">
            <a:lumMod val="25000"/>
            <a:lumOff val="75000"/>
          </a:schemeClr>
        </a:solidFill>
        <a:round/>
      </a:ln>
    </cs:spPr>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شريحة عنوان">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ar-SA"/>
              <a:t>انقر لتحرير نمط عنوان الشكل الرئيسي</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ar-SA"/>
              <a:t>انقر لتحرير نمط العنوان الفرعي للشكل الرئيسي</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2D1E1F69-133F-4741-BBAF-10D16895B8FF}" type="datetimeFigureOut">
              <a:rPr lang="ar-AE" smtClean="0"/>
              <a:t>17/07/1447</a:t>
            </a:fld>
            <a:endParaRPr lang="ar-AE"/>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ar-AE"/>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3E25F532-0F9C-4C2F-8C07-6AD36938E247}" type="slidenum">
              <a:rPr lang="ar-AE" smtClean="0"/>
              <a:t>‹#›</a:t>
            </a:fld>
            <a:endParaRPr lang="ar-AE"/>
          </a:p>
        </p:txBody>
      </p:sp>
    </p:spTree>
    <p:extLst>
      <p:ext uri="{BB962C8B-B14F-4D97-AF65-F5344CB8AC3E}">
        <p14:creationId xmlns:p14="http://schemas.microsoft.com/office/powerpoint/2010/main" val="22755813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عنوان ومحتوى">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702156"/>
            <a:ext cx="11029616" cy="1013800"/>
          </a:xfrm>
        </p:spPr>
        <p:txBody>
          <a:bodyPr/>
          <a:lstStyle/>
          <a:p>
            <a:r>
              <a:rPr lang="ar-SA"/>
              <a:t>انقر لتحرير نمط عنوان الشكل الرئيسي</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2D1E1F69-133F-4741-BBAF-10D16895B8FF}" type="datetimeFigureOut">
              <a:rPr lang="ar-AE" smtClean="0"/>
              <a:t>17/07/1447</a:t>
            </a:fld>
            <a:endParaRPr lang="ar-AE"/>
          </a:p>
        </p:txBody>
      </p:sp>
      <p:sp>
        <p:nvSpPr>
          <p:cNvPr id="5" name="Footer Placeholder 4"/>
          <p:cNvSpPr>
            <a:spLocks noGrp="1"/>
          </p:cNvSpPr>
          <p:nvPr>
            <p:ph type="ftr" sz="quarter" idx="11"/>
          </p:nvPr>
        </p:nvSpPr>
        <p:spPr/>
        <p:txBody>
          <a:bodyPr/>
          <a:lstStyle/>
          <a:p>
            <a:endParaRPr lang="ar-AE"/>
          </a:p>
        </p:txBody>
      </p:sp>
      <p:sp>
        <p:nvSpPr>
          <p:cNvPr id="6" name="Slide Number Placeholder 5"/>
          <p:cNvSpPr>
            <a:spLocks noGrp="1"/>
          </p:cNvSpPr>
          <p:nvPr>
            <p:ph type="sldNum" sz="quarter" idx="12"/>
          </p:nvPr>
        </p:nvSpPr>
        <p:spPr>
          <a:xfrm>
            <a:off x="10558300" y="5956137"/>
            <a:ext cx="1052508" cy="365125"/>
          </a:xfrm>
        </p:spPr>
        <p:txBody>
          <a:bodyPr/>
          <a:lstStyle/>
          <a:p>
            <a:fld id="{3E25F532-0F9C-4C2F-8C07-6AD36938E247}" type="slidenum">
              <a:rPr lang="ar-AE" smtClean="0"/>
              <a:t>‹#›</a:t>
            </a:fld>
            <a:endParaRPr lang="ar-AE"/>
          </a:p>
        </p:txBody>
      </p:sp>
    </p:spTree>
    <p:extLst>
      <p:ext uri="{BB962C8B-B14F-4D97-AF65-F5344CB8AC3E}">
        <p14:creationId xmlns:p14="http://schemas.microsoft.com/office/powerpoint/2010/main" val="3619559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عنوان المقطع">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ar-SA"/>
              <a:t>انقر لتحرير أنماط نص الشكل الرئيسي</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2D1E1F69-133F-4741-BBAF-10D16895B8FF}" type="datetimeFigureOut">
              <a:rPr lang="ar-AE" smtClean="0"/>
              <a:t>17/07/1447</a:t>
            </a:fld>
            <a:endParaRPr lang="ar-AE"/>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ar-AE"/>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3E25F532-0F9C-4C2F-8C07-6AD36938E247}" type="slidenum">
              <a:rPr lang="ar-AE" smtClean="0"/>
              <a:t>‹#›</a:t>
            </a:fld>
            <a:endParaRPr lang="ar-AE"/>
          </a:p>
        </p:txBody>
      </p:sp>
    </p:spTree>
    <p:extLst>
      <p:ext uri="{BB962C8B-B14F-4D97-AF65-F5344CB8AC3E}">
        <p14:creationId xmlns:p14="http://schemas.microsoft.com/office/powerpoint/2010/main" val="20690910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محتويان">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ar-SA"/>
              <a:t>انقر لتحرير نمط عنوان الشكل الرئيسي</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Date Placeholder 4"/>
          <p:cNvSpPr>
            <a:spLocks noGrp="1"/>
          </p:cNvSpPr>
          <p:nvPr>
            <p:ph type="dt" sz="half" idx="10"/>
          </p:nvPr>
        </p:nvSpPr>
        <p:spPr/>
        <p:txBody>
          <a:bodyPr/>
          <a:lstStyle/>
          <a:p>
            <a:fld id="{2D1E1F69-133F-4741-BBAF-10D16895B8FF}" type="datetimeFigureOut">
              <a:rPr lang="ar-AE" smtClean="0"/>
              <a:t>17/07/1447</a:t>
            </a:fld>
            <a:endParaRPr lang="ar-AE"/>
          </a:p>
        </p:txBody>
      </p:sp>
      <p:sp>
        <p:nvSpPr>
          <p:cNvPr id="6" name="Footer Placeholder 5"/>
          <p:cNvSpPr>
            <a:spLocks noGrp="1"/>
          </p:cNvSpPr>
          <p:nvPr>
            <p:ph type="ftr" sz="quarter" idx="11"/>
          </p:nvPr>
        </p:nvSpPr>
        <p:spPr/>
        <p:txBody>
          <a:bodyPr/>
          <a:lstStyle/>
          <a:p>
            <a:endParaRPr lang="ar-AE"/>
          </a:p>
        </p:txBody>
      </p:sp>
      <p:sp>
        <p:nvSpPr>
          <p:cNvPr id="7" name="Slide Number Placeholder 6"/>
          <p:cNvSpPr>
            <a:spLocks noGrp="1"/>
          </p:cNvSpPr>
          <p:nvPr>
            <p:ph type="sldNum" sz="quarter" idx="12"/>
          </p:nvPr>
        </p:nvSpPr>
        <p:spPr/>
        <p:txBody>
          <a:bodyPr/>
          <a:lstStyle/>
          <a:p>
            <a:fld id="{3E25F532-0F9C-4C2F-8C07-6AD36938E247}" type="slidenum">
              <a:rPr lang="ar-AE" smtClean="0"/>
              <a:t>‹#›</a:t>
            </a:fld>
            <a:endParaRPr lang="ar-AE"/>
          </a:p>
        </p:txBody>
      </p:sp>
    </p:spTree>
    <p:extLst>
      <p:ext uri="{BB962C8B-B14F-4D97-AF65-F5344CB8AC3E}">
        <p14:creationId xmlns:p14="http://schemas.microsoft.com/office/powerpoint/2010/main" val="16321483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مقارنة">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ar-SA"/>
              <a:t>انقر لتحرير أنماط نص الشكل الرئيسي</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7" name="Date Placeholder 6"/>
          <p:cNvSpPr>
            <a:spLocks noGrp="1"/>
          </p:cNvSpPr>
          <p:nvPr>
            <p:ph type="dt" sz="half" idx="10"/>
          </p:nvPr>
        </p:nvSpPr>
        <p:spPr/>
        <p:txBody>
          <a:bodyPr/>
          <a:lstStyle/>
          <a:p>
            <a:fld id="{2D1E1F69-133F-4741-BBAF-10D16895B8FF}" type="datetimeFigureOut">
              <a:rPr lang="ar-AE" smtClean="0"/>
              <a:t>17/07/1447</a:t>
            </a:fld>
            <a:endParaRPr lang="ar-AE"/>
          </a:p>
        </p:txBody>
      </p:sp>
      <p:sp>
        <p:nvSpPr>
          <p:cNvPr id="8" name="Footer Placeholder 7"/>
          <p:cNvSpPr>
            <a:spLocks noGrp="1"/>
          </p:cNvSpPr>
          <p:nvPr>
            <p:ph type="ftr" sz="quarter" idx="11"/>
          </p:nvPr>
        </p:nvSpPr>
        <p:spPr/>
        <p:txBody>
          <a:bodyPr/>
          <a:lstStyle/>
          <a:p>
            <a:endParaRPr lang="ar-AE"/>
          </a:p>
        </p:txBody>
      </p:sp>
      <p:sp>
        <p:nvSpPr>
          <p:cNvPr id="9" name="Slide Number Placeholder 8"/>
          <p:cNvSpPr>
            <a:spLocks noGrp="1"/>
          </p:cNvSpPr>
          <p:nvPr>
            <p:ph type="sldNum" sz="quarter" idx="12"/>
          </p:nvPr>
        </p:nvSpPr>
        <p:spPr/>
        <p:txBody>
          <a:bodyPr/>
          <a:lstStyle/>
          <a:p>
            <a:fld id="{3E25F532-0F9C-4C2F-8C07-6AD36938E247}" type="slidenum">
              <a:rPr lang="ar-AE" smtClean="0"/>
              <a:t>‹#›</a:t>
            </a:fld>
            <a:endParaRPr lang="ar-AE"/>
          </a:p>
        </p:txBody>
      </p:sp>
    </p:spTree>
    <p:extLst>
      <p:ext uri="{BB962C8B-B14F-4D97-AF65-F5344CB8AC3E}">
        <p14:creationId xmlns:p14="http://schemas.microsoft.com/office/powerpoint/2010/main" val="25636132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عنوان فقط">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ar-SA"/>
              <a:t>انقر لتحرير نمط عنوان الشكل الرئيسي</a:t>
            </a:r>
            <a:endParaRPr lang="en-US" dirty="0"/>
          </a:p>
        </p:txBody>
      </p:sp>
      <p:sp>
        <p:nvSpPr>
          <p:cNvPr id="3" name="Date Placeholder 2"/>
          <p:cNvSpPr>
            <a:spLocks noGrp="1"/>
          </p:cNvSpPr>
          <p:nvPr>
            <p:ph type="dt" sz="half" idx="10"/>
          </p:nvPr>
        </p:nvSpPr>
        <p:spPr/>
        <p:txBody>
          <a:bodyPr/>
          <a:lstStyle/>
          <a:p>
            <a:fld id="{2D1E1F69-133F-4741-BBAF-10D16895B8FF}" type="datetimeFigureOut">
              <a:rPr lang="ar-AE" smtClean="0"/>
              <a:t>17/07/1447</a:t>
            </a:fld>
            <a:endParaRPr lang="ar-AE"/>
          </a:p>
        </p:txBody>
      </p:sp>
      <p:sp>
        <p:nvSpPr>
          <p:cNvPr id="4" name="Footer Placeholder 3"/>
          <p:cNvSpPr>
            <a:spLocks noGrp="1"/>
          </p:cNvSpPr>
          <p:nvPr>
            <p:ph type="ftr" sz="quarter" idx="11"/>
          </p:nvPr>
        </p:nvSpPr>
        <p:spPr/>
        <p:txBody>
          <a:bodyPr/>
          <a:lstStyle/>
          <a:p>
            <a:endParaRPr lang="ar-AE"/>
          </a:p>
        </p:txBody>
      </p:sp>
      <p:sp>
        <p:nvSpPr>
          <p:cNvPr id="5" name="Slide Number Placeholder 4"/>
          <p:cNvSpPr>
            <a:spLocks noGrp="1"/>
          </p:cNvSpPr>
          <p:nvPr>
            <p:ph type="sldNum" sz="quarter" idx="12"/>
          </p:nvPr>
        </p:nvSpPr>
        <p:spPr/>
        <p:txBody>
          <a:bodyPr/>
          <a:lstStyle/>
          <a:p>
            <a:fld id="{3E25F532-0F9C-4C2F-8C07-6AD36938E247}" type="slidenum">
              <a:rPr lang="ar-AE" smtClean="0"/>
              <a:t>‹#›</a:t>
            </a:fld>
            <a:endParaRPr lang="ar-AE"/>
          </a:p>
        </p:txBody>
      </p:sp>
    </p:spTree>
    <p:extLst>
      <p:ext uri="{BB962C8B-B14F-4D97-AF65-F5344CB8AC3E}">
        <p14:creationId xmlns:p14="http://schemas.microsoft.com/office/powerpoint/2010/main" val="38267030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فارغ">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E1F69-133F-4741-BBAF-10D16895B8FF}" type="datetimeFigureOut">
              <a:rPr lang="ar-AE" smtClean="0"/>
              <a:t>17/07/1447</a:t>
            </a:fld>
            <a:endParaRPr lang="ar-AE"/>
          </a:p>
        </p:txBody>
      </p:sp>
      <p:sp>
        <p:nvSpPr>
          <p:cNvPr id="3" name="Footer Placeholder 2"/>
          <p:cNvSpPr>
            <a:spLocks noGrp="1"/>
          </p:cNvSpPr>
          <p:nvPr>
            <p:ph type="ftr" sz="quarter" idx="11"/>
          </p:nvPr>
        </p:nvSpPr>
        <p:spPr/>
        <p:txBody>
          <a:bodyPr/>
          <a:lstStyle/>
          <a:p>
            <a:endParaRPr lang="ar-AE"/>
          </a:p>
        </p:txBody>
      </p:sp>
      <p:sp>
        <p:nvSpPr>
          <p:cNvPr id="4" name="Slide Number Placeholder 3"/>
          <p:cNvSpPr>
            <a:spLocks noGrp="1"/>
          </p:cNvSpPr>
          <p:nvPr>
            <p:ph type="sldNum" sz="quarter" idx="12"/>
          </p:nvPr>
        </p:nvSpPr>
        <p:spPr/>
        <p:txBody>
          <a:bodyPr/>
          <a:lstStyle/>
          <a:p>
            <a:fld id="{3E25F532-0F9C-4C2F-8C07-6AD36938E247}" type="slidenum">
              <a:rPr lang="ar-AE" smtClean="0"/>
              <a:t>‹#›</a:t>
            </a:fld>
            <a:endParaRPr lang="ar-AE"/>
          </a:p>
        </p:txBody>
      </p:sp>
    </p:spTree>
    <p:extLst>
      <p:ext uri="{BB962C8B-B14F-4D97-AF65-F5344CB8AC3E}">
        <p14:creationId xmlns:p14="http://schemas.microsoft.com/office/powerpoint/2010/main" val="33157636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محتوى مع تسمية توضيحية">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ar-SA"/>
              <a:t>انقر لتحرير نمط عنوان الشكل الرئيسي</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2D1E1F69-133F-4741-BBAF-10D16895B8FF}" type="datetimeFigureOut">
              <a:rPr lang="ar-AE" smtClean="0"/>
              <a:t>17/07/1447</a:t>
            </a:fld>
            <a:endParaRPr lang="ar-AE"/>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ar-AE"/>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3E25F532-0F9C-4C2F-8C07-6AD36938E247}" type="slidenum">
              <a:rPr lang="ar-AE" smtClean="0"/>
              <a:t>‹#›</a:t>
            </a:fld>
            <a:endParaRPr lang="ar-AE"/>
          </a:p>
        </p:txBody>
      </p:sp>
    </p:spTree>
    <p:extLst>
      <p:ext uri="{BB962C8B-B14F-4D97-AF65-F5344CB8AC3E}">
        <p14:creationId xmlns:p14="http://schemas.microsoft.com/office/powerpoint/2010/main" val="26558512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صورة مع تسمية توضيحية">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ar-SA"/>
              <a:t>انقر لتحرير نمط عنوان الشكل الرئيسي</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ar-SA"/>
              <a:t>انقر فوق الأيقونة لإضافة صورة</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ar-SA"/>
              <a:t>انقر لتحرير أنماط نص الشكل الرئيسي</a:t>
            </a:r>
          </a:p>
        </p:txBody>
      </p:sp>
      <p:sp>
        <p:nvSpPr>
          <p:cNvPr id="5" name="Date Placeholder 4"/>
          <p:cNvSpPr>
            <a:spLocks noGrp="1"/>
          </p:cNvSpPr>
          <p:nvPr>
            <p:ph type="dt" sz="half" idx="10"/>
          </p:nvPr>
        </p:nvSpPr>
        <p:spPr/>
        <p:txBody>
          <a:bodyPr/>
          <a:lstStyle/>
          <a:p>
            <a:fld id="{2D1E1F69-133F-4741-BBAF-10D16895B8FF}" type="datetimeFigureOut">
              <a:rPr lang="ar-AE" smtClean="0"/>
              <a:t>17/07/1447</a:t>
            </a:fld>
            <a:endParaRPr lang="ar-AE"/>
          </a:p>
        </p:txBody>
      </p:sp>
      <p:sp>
        <p:nvSpPr>
          <p:cNvPr id="6" name="Footer Placeholder 5"/>
          <p:cNvSpPr>
            <a:spLocks noGrp="1"/>
          </p:cNvSpPr>
          <p:nvPr>
            <p:ph type="ftr" sz="quarter" idx="11"/>
          </p:nvPr>
        </p:nvSpPr>
        <p:spPr/>
        <p:txBody>
          <a:bodyPr/>
          <a:lstStyle/>
          <a:p>
            <a:endParaRPr lang="ar-AE"/>
          </a:p>
        </p:txBody>
      </p:sp>
      <p:sp>
        <p:nvSpPr>
          <p:cNvPr id="7" name="Slide Number Placeholder 6"/>
          <p:cNvSpPr>
            <a:spLocks noGrp="1"/>
          </p:cNvSpPr>
          <p:nvPr>
            <p:ph type="sldNum" sz="quarter" idx="12"/>
          </p:nvPr>
        </p:nvSpPr>
        <p:spPr/>
        <p:txBody>
          <a:bodyPr/>
          <a:lstStyle/>
          <a:p>
            <a:fld id="{3E25F532-0F9C-4C2F-8C07-6AD36938E247}" type="slidenum">
              <a:rPr lang="ar-AE" smtClean="0"/>
              <a:t>‹#›</a:t>
            </a:fld>
            <a:endParaRPr lang="ar-AE"/>
          </a:p>
        </p:txBody>
      </p:sp>
    </p:spTree>
    <p:extLst>
      <p:ext uri="{BB962C8B-B14F-4D97-AF65-F5344CB8AC3E}">
        <p14:creationId xmlns:p14="http://schemas.microsoft.com/office/powerpoint/2010/main" val="25521742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عنوان ونص عمودي">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p:txBody>
          <a:bodyPr/>
          <a:lstStyle/>
          <a:p>
            <a:fld id="{2D1E1F69-133F-4741-BBAF-10D16895B8FF}" type="datetimeFigureOut">
              <a:rPr lang="ar-AE" smtClean="0"/>
              <a:t>17/07/1447</a:t>
            </a:fld>
            <a:endParaRPr lang="ar-AE"/>
          </a:p>
        </p:txBody>
      </p:sp>
      <p:sp>
        <p:nvSpPr>
          <p:cNvPr id="5" name="Footer Placeholder 4"/>
          <p:cNvSpPr>
            <a:spLocks noGrp="1"/>
          </p:cNvSpPr>
          <p:nvPr>
            <p:ph type="ftr" sz="quarter" idx="11"/>
          </p:nvPr>
        </p:nvSpPr>
        <p:spPr/>
        <p:txBody>
          <a:bodyPr/>
          <a:lstStyle/>
          <a:p>
            <a:endParaRPr lang="ar-AE"/>
          </a:p>
        </p:txBody>
      </p:sp>
      <p:sp>
        <p:nvSpPr>
          <p:cNvPr id="6" name="Slide Number Placeholder 5"/>
          <p:cNvSpPr>
            <a:spLocks noGrp="1"/>
          </p:cNvSpPr>
          <p:nvPr>
            <p:ph type="sldNum" sz="quarter" idx="12"/>
          </p:nvPr>
        </p:nvSpPr>
        <p:spPr/>
        <p:txBody>
          <a:bodyPr/>
          <a:lstStyle/>
          <a:p>
            <a:fld id="{3E25F532-0F9C-4C2F-8C07-6AD36938E247}" type="slidenum">
              <a:rPr lang="ar-AE" smtClean="0"/>
              <a:t>‹#›</a:t>
            </a:fld>
            <a:endParaRPr lang="ar-AE"/>
          </a:p>
        </p:txBody>
      </p:sp>
    </p:spTree>
    <p:extLst>
      <p:ext uri="{BB962C8B-B14F-4D97-AF65-F5344CB8AC3E}">
        <p14:creationId xmlns:p14="http://schemas.microsoft.com/office/powerpoint/2010/main" val="36090800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عنوان ونص عموديان">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ar-SA"/>
              <a:t>انقر لتحرير نمط عنوان الشكل الرئيسي</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2D1E1F69-133F-4741-BBAF-10D16895B8FF}" type="datetimeFigureOut">
              <a:rPr lang="ar-AE" smtClean="0"/>
              <a:t>17/07/1447</a:t>
            </a:fld>
            <a:endParaRPr lang="ar-AE"/>
          </a:p>
        </p:txBody>
      </p:sp>
      <p:sp>
        <p:nvSpPr>
          <p:cNvPr id="5" name="Footer Placeholder 4"/>
          <p:cNvSpPr>
            <a:spLocks noGrp="1"/>
          </p:cNvSpPr>
          <p:nvPr>
            <p:ph type="ftr" sz="quarter" idx="11"/>
          </p:nvPr>
        </p:nvSpPr>
        <p:spPr>
          <a:xfrm>
            <a:off x="774923" y="5951811"/>
            <a:ext cx="7896279" cy="365125"/>
          </a:xfrm>
        </p:spPr>
        <p:txBody>
          <a:bodyPr/>
          <a:lstStyle/>
          <a:p>
            <a:endParaRPr lang="ar-AE"/>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3E25F532-0F9C-4C2F-8C07-6AD36938E247}" type="slidenum">
              <a:rPr lang="ar-AE" smtClean="0"/>
              <a:t>‹#›</a:t>
            </a:fld>
            <a:endParaRPr lang="ar-AE"/>
          </a:p>
        </p:txBody>
      </p:sp>
    </p:spTree>
    <p:extLst>
      <p:ext uri="{BB962C8B-B14F-4D97-AF65-F5344CB8AC3E}">
        <p14:creationId xmlns:p14="http://schemas.microsoft.com/office/powerpoint/2010/main" val="40695668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ar-SA"/>
              <a:t>انقر لتحرير نمط عنوان الشكل الرئيسي</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ar-SA"/>
              <a:t>انقر لتحرير أنماط نص الشكل الرئيسي</a:t>
            </a:r>
          </a:p>
          <a:p>
            <a:pPr lvl="1"/>
            <a:r>
              <a:rPr lang="ar-SA"/>
              <a:t>المستوى الثاني</a:t>
            </a:r>
          </a:p>
          <a:p>
            <a:pPr lvl="2"/>
            <a:r>
              <a:rPr lang="ar-SA"/>
              <a:t>المستوى الثالث</a:t>
            </a:r>
          </a:p>
          <a:p>
            <a:pPr lvl="3"/>
            <a:r>
              <a:rPr lang="ar-SA"/>
              <a:t>المستوى الرابع</a:t>
            </a:r>
          </a:p>
          <a:p>
            <a:pPr lvl="4"/>
            <a:r>
              <a:rPr lang="ar-SA"/>
              <a:t>المستوى الخامس</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2D1E1F69-133F-4741-BBAF-10D16895B8FF}" type="datetimeFigureOut">
              <a:rPr lang="ar-AE" smtClean="0"/>
              <a:t>17/07/1447</a:t>
            </a:fld>
            <a:endParaRPr lang="ar-AE"/>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ar-AE"/>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3E25F532-0F9C-4C2F-8C07-6AD36938E247}" type="slidenum">
              <a:rPr lang="ar-AE" smtClean="0"/>
              <a:t>‹#›</a:t>
            </a:fld>
            <a:endParaRPr lang="ar-AE"/>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sp>
    </p:spTree>
    <p:extLst>
      <p:ext uri="{BB962C8B-B14F-4D97-AF65-F5344CB8AC3E}">
        <p14:creationId xmlns:p14="http://schemas.microsoft.com/office/powerpoint/2010/main" val="2025398803"/>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457200" rtl="1" eaLnBrk="1" latinLnBrk="0" hangingPunct="1">
        <a:spcBef>
          <a:spcPct val="0"/>
        </a:spcBef>
        <a:buNone/>
        <a:defRPr sz="2800" b="0" kern="1200" cap="all">
          <a:solidFill>
            <a:schemeClr val="bg1"/>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06000" indent="-306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r" defTabSz="457200" rtl="1"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7">
            <a:extLst>
              <a:ext uri="{FF2B5EF4-FFF2-40B4-BE49-F238E27FC236}">
                <a16:creationId xmlns:a16="http://schemas.microsoft.com/office/drawing/2014/main" id="{EC4BE42B-7A9E-9EF6-8A1D-5DFF837B88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07728" y="149998"/>
            <a:ext cx="3188973" cy="2153076"/>
          </a:xfrm>
          <a:prstGeom prst="rect">
            <a:avLst/>
          </a:prstGeom>
        </p:spPr>
      </p:pic>
      <p:sp>
        <p:nvSpPr>
          <p:cNvPr id="7" name="TextBox 8">
            <a:extLst>
              <a:ext uri="{FF2B5EF4-FFF2-40B4-BE49-F238E27FC236}">
                <a16:creationId xmlns:a16="http://schemas.microsoft.com/office/drawing/2014/main" id="{53ABC8F4-C832-0BDB-7D80-8C04CA920AD2}"/>
              </a:ext>
            </a:extLst>
          </p:cNvPr>
          <p:cNvSpPr txBox="1"/>
          <p:nvPr/>
        </p:nvSpPr>
        <p:spPr>
          <a:xfrm>
            <a:off x="1" y="587890"/>
            <a:ext cx="4807525" cy="923330"/>
          </a:xfrm>
          <a:prstGeom prst="rect">
            <a:avLst/>
          </a:prstGeom>
          <a:noFill/>
        </p:spPr>
        <p:txBody>
          <a:bodyPr wrap="square" rtlCol="0">
            <a:spAutoFit/>
          </a:bodyPr>
          <a:lstStyle/>
          <a:p>
            <a:pPr algn="ctr" rtl="0"/>
            <a:r>
              <a:rPr lang="en-US" b="1" dirty="0">
                <a:latin typeface="Times New Roman" panose="02020603050405020304" pitchFamily="18" charset="0"/>
                <a:cs typeface="Times New Roman" panose="02020603050405020304" pitchFamily="18" charset="0"/>
              </a:rPr>
              <a:t>THE SYRIAN PRIVATE UNIVERSITY</a:t>
            </a:r>
          </a:p>
          <a:p>
            <a:pPr algn="ctr" rtl="0"/>
            <a:r>
              <a:rPr lang="en-US" b="1" dirty="0">
                <a:latin typeface="Times New Roman" panose="02020603050405020304" pitchFamily="18" charset="0"/>
                <a:cs typeface="Times New Roman" panose="02020603050405020304" pitchFamily="18" charset="0"/>
              </a:rPr>
              <a:t>FACULTY OF COMPUTER &amp; INFORMATICS ENGINEERING</a:t>
            </a:r>
          </a:p>
        </p:txBody>
      </p:sp>
      <p:sp>
        <p:nvSpPr>
          <p:cNvPr id="8" name="TextBox 9">
            <a:extLst>
              <a:ext uri="{FF2B5EF4-FFF2-40B4-BE49-F238E27FC236}">
                <a16:creationId xmlns:a16="http://schemas.microsoft.com/office/drawing/2014/main" id="{9CB2636E-D28A-802C-1F58-C4EBE8FE72DC}"/>
              </a:ext>
            </a:extLst>
          </p:cNvPr>
          <p:cNvSpPr txBox="1"/>
          <p:nvPr/>
        </p:nvSpPr>
        <p:spPr>
          <a:xfrm>
            <a:off x="2160267" y="2075236"/>
            <a:ext cx="7871459" cy="374077"/>
          </a:xfrm>
          <a:prstGeom prst="rect">
            <a:avLst/>
          </a:prstGeom>
          <a:noFill/>
        </p:spPr>
        <p:txBody>
          <a:bodyPr wrap="square" rtlCol="0">
            <a:spAutoFit/>
          </a:bodyPr>
          <a:lstStyle/>
          <a:p>
            <a:pPr algn="ctr" rtl="1">
              <a:lnSpc>
                <a:spcPct val="107000"/>
              </a:lnSpc>
              <a:spcAft>
                <a:spcPts val="800"/>
              </a:spcAft>
            </a:pPr>
            <a:r>
              <a:rPr lang="en-US" sz="1800" b="1" kern="100" dirty="0">
                <a:effectLst/>
                <a:latin typeface="Times New Roman" panose="02020603050405020304" pitchFamily="18" charset="0"/>
                <a:ea typeface="Calibri" panose="020F0502020204030204" pitchFamily="34" charset="0"/>
              </a:rPr>
              <a:t>Building and Designing a Smart Conference Management Platform</a:t>
            </a:r>
            <a:endParaRPr lang="en-US" sz="1800" kern="100" dirty="0">
              <a:effectLst/>
              <a:latin typeface="Calibri" panose="020F0502020204030204" pitchFamily="34" charset="0"/>
              <a:ea typeface="Calibri" panose="020F0502020204030204" pitchFamily="34" charset="0"/>
            </a:endParaRPr>
          </a:p>
        </p:txBody>
      </p:sp>
      <p:sp>
        <p:nvSpPr>
          <p:cNvPr id="9" name="TextBox 10">
            <a:extLst>
              <a:ext uri="{FF2B5EF4-FFF2-40B4-BE49-F238E27FC236}">
                <a16:creationId xmlns:a16="http://schemas.microsoft.com/office/drawing/2014/main" id="{61D0EE33-F3A1-7243-3426-910356B531E2}"/>
              </a:ext>
            </a:extLst>
          </p:cNvPr>
          <p:cNvSpPr txBox="1"/>
          <p:nvPr/>
        </p:nvSpPr>
        <p:spPr>
          <a:xfrm>
            <a:off x="2160266" y="3158879"/>
            <a:ext cx="7871459" cy="804195"/>
          </a:xfrm>
          <a:prstGeom prst="rect">
            <a:avLst/>
          </a:prstGeom>
          <a:noFill/>
        </p:spPr>
        <p:txBody>
          <a:bodyPr wrap="square" rtlCol="0">
            <a:spAutoFit/>
          </a:bodyPr>
          <a:lstStyle/>
          <a:p>
            <a:pPr algn="ctr" rtl="1">
              <a:lnSpc>
                <a:spcPct val="150000"/>
              </a:lnSpc>
            </a:pPr>
            <a:r>
              <a:rPr lang="ar-AE" b="1" dirty="0">
                <a:solidFill>
                  <a:schemeClr val="bg1"/>
                </a:solidFill>
                <a:latin typeface="Times New Roman" panose="02020603050405020304" pitchFamily="18" charset="0"/>
                <a:cs typeface="Times New Roman" panose="02020603050405020304" pitchFamily="18" charset="0"/>
              </a:rPr>
              <a:t>إعداد الطالبات</a:t>
            </a:r>
          </a:p>
          <a:p>
            <a:pPr algn="ctr" rtl="1">
              <a:lnSpc>
                <a:spcPct val="107000"/>
              </a:lnSpc>
              <a:spcAft>
                <a:spcPts val="800"/>
              </a:spcAft>
            </a:pPr>
            <a:r>
              <a:rPr lang="ar-SA" sz="1800" b="1" kern="100" dirty="0">
                <a:solidFill>
                  <a:schemeClr val="bg1"/>
                </a:solidFill>
                <a:effectLst/>
                <a:latin typeface="Calibri" panose="020F0502020204030204" pitchFamily="34" charset="0"/>
                <a:ea typeface="Calibri" panose="020F0502020204030204" pitchFamily="34" charset="0"/>
                <a:cs typeface="Simplified Arabic" panose="02020603050405020304" pitchFamily="18" charset="-78"/>
              </a:rPr>
              <a:t>إسراء محاميد						رغد حريدين</a:t>
            </a:r>
            <a:endParaRPr lang="ar-AE" sz="1800" b="1" kern="100" dirty="0">
              <a:solidFill>
                <a:schemeClr val="bg1"/>
              </a:solidFill>
              <a:effectLst/>
              <a:latin typeface="Calibri" panose="020F0502020204030204" pitchFamily="34" charset="0"/>
              <a:ea typeface="Calibri" panose="020F0502020204030204" pitchFamily="34" charset="0"/>
              <a:cs typeface="Simplified Arabic" panose="02020603050405020304" pitchFamily="18" charset="-78"/>
            </a:endParaRPr>
          </a:p>
        </p:txBody>
      </p:sp>
      <p:sp>
        <p:nvSpPr>
          <p:cNvPr id="10" name="TextBox 11">
            <a:extLst>
              <a:ext uri="{FF2B5EF4-FFF2-40B4-BE49-F238E27FC236}">
                <a16:creationId xmlns:a16="http://schemas.microsoft.com/office/drawing/2014/main" id="{8679681D-12EB-2676-C50D-B7855EBD606B}"/>
              </a:ext>
            </a:extLst>
          </p:cNvPr>
          <p:cNvSpPr txBox="1"/>
          <p:nvPr/>
        </p:nvSpPr>
        <p:spPr>
          <a:xfrm>
            <a:off x="4807522" y="5038581"/>
            <a:ext cx="2576945" cy="1704569"/>
          </a:xfrm>
          <a:prstGeom prst="rect">
            <a:avLst/>
          </a:prstGeom>
          <a:noFill/>
        </p:spPr>
        <p:txBody>
          <a:bodyPr wrap="square" rtlCol="0">
            <a:spAutoFit/>
          </a:bodyPr>
          <a:lstStyle/>
          <a:p>
            <a:pPr algn="ctr" rtl="1">
              <a:lnSpc>
                <a:spcPct val="150000"/>
              </a:lnSpc>
            </a:pPr>
            <a:r>
              <a:rPr lang="ar-AE" b="1" dirty="0">
                <a:solidFill>
                  <a:schemeClr val="bg1"/>
                </a:solidFill>
                <a:latin typeface="Times New Roman" panose="02020603050405020304" pitchFamily="18" charset="0"/>
                <a:cs typeface="Times New Roman" panose="02020603050405020304" pitchFamily="18" charset="0"/>
              </a:rPr>
              <a:t>إشراف</a:t>
            </a:r>
          </a:p>
          <a:p>
            <a:pPr algn="ctr" rtl="1">
              <a:lnSpc>
                <a:spcPct val="107000"/>
              </a:lnSpc>
              <a:spcAft>
                <a:spcPts val="800"/>
              </a:spcAft>
            </a:pPr>
            <a:r>
              <a:rPr lang="ar-SA" sz="1800" b="1" kern="100" dirty="0">
                <a:solidFill>
                  <a:schemeClr val="bg1"/>
                </a:solidFill>
                <a:effectLst/>
                <a:latin typeface="Calibri" panose="020F0502020204030204" pitchFamily="34" charset="0"/>
                <a:ea typeface="Calibri" panose="020F0502020204030204" pitchFamily="34" charset="0"/>
                <a:cs typeface="Simplified Arabic" panose="02020603050405020304" pitchFamily="18" charset="-78"/>
              </a:rPr>
              <a:t>د. ماجدة البكور</a:t>
            </a:r>
          </a:p>
          <a:p>
            <a:pPr algn="ctr" rtl="1">
              <a:lnSpc>
                <a:spcPct val="107000"/>
              </a:lnSpc>
              <a:spcAft>
                <a:spcPts val="800"/>
              </a:spcAft>
            </a:pPr>
            <a:r>
              <a:rPr lang="ar-SA" sz="1800" b="1" kern="100" dirty="0">
                <a:solidFill>
                  <a:schemeClr val="bg1"/>
                </a:solidFill>
                <a:effectLst/>
                <a:latin typeface="Calibri" panose="020F0502020204030204" pitchFamily="34" charset="0"/>
                <a:ea typeface="Calibri" panose="020F0502020204030204" pitchFamily="34" charset="0"/>
                <a:cs typeface="Simplified Arabic" panose="02020603050405020304" pitchFamily="18" charset="-78"/>
              </a:rPr>
              <a:t>م. فرح فارس</a:t>
            </a:r>
          </a:p>
          <a:p>
            <a:pPr algn="ctr" rtl="1">
              <a:lnSpc>
                <a:spcPct val="150000"/>
              </a:lnSpc>
            </a:pPr>
            <a:r>
              <a:rPr lang="ar-AE" b="1" dirty="0">
                <a:latin typeface="Times New Roman" panose="02020603050405020304" pitchFamily="18" charset="0"/>
                <a:cs typeface="Times New Roman" panose="02020603050405020304" pitchFamily="18" charset="0"/>
              </a:rPr>
              <a:t>كانون الأول - 2025</a:t>
            </a:r>
          </a:p>
        </p:txBody>
      </p:sp>
      <p:sp>
        <p:nvSpPr>
          <p:cNvPr id="12" name="TextBox 12">
            <a:extLst>
              <a:ext uri="{FF2B5EF4-FFF2-40B4-BE49-F238E27FC236}">
                <a16:creationId xmlns:a16="http://schemas.microsoft.com/office/drawing/2014/main" id="{C4436E9F-C34B-0353-472D-ECB73184841E}"/>
              </a:ext>
            </a:extLst>
          </p:cNvPr>
          <p:cNvSpPr txBox="1"/>
          <p:nvPr/>
        </p:nvSpPr>
        <p:spPr>
          <a:xfrm>
            <a:off x="2953654" y="2562092"/>
            <a:ext cx="6284684" cy="388696"/>
          </a:xfrm>
          <a:prstGeom prst="rect">
            <a:avLst/>
          </a:prstGeom>
          <a:noFill/>
        </p:spPr>
        <p:txBody>
          <a:bodyPr wrap="square">
            <a:spAutoFit/>
          </a:bodyPr>
          <a:lstStyle/>
          <a:p>
            <a:pPr algn="ctr" rtl="1">
              <a:lnSpc>
                <a:spcPct val="107000"/>
              </a:lnSpc>
              <a:spcAft>
                <a:spcPts val="800"/>
              </a:spcAft>
            </a:pPr>
            <a:r>
              <a:rPr lang="ar-AE" sz="1800" b="1" kern="100" dirty="0">
                <a:effectLst/>
                <a:latin typeface="Calibri" panose="020F0502020204030204" pitchFamily="34" charset="0"/>
                <a:ea typeface="Arial" panose="020B0604020202020204" pitchFamily="34" charset="0"/>
                <a:cs typeface="Simplified Arabic" panose="02020603050405020304" pitchFamily="18" charset="-78"/>
              </a:rPr>
              <a:t>بناء وتصميم منصة لإدارة مؤتمر ذكي</a:t>
            </a:r>
            <a:endParaRPr lang="en-US" sz="1800" kern="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00499928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3C93F-7AC6-1DE0-A99D-8D93F534D207}"/>
            </a:ext>
          </a:extLst>
        </p:cNvPr>
        <p:cNvGrpSpPr/>
        <p:nvPr/>
      </p:nvGrpSpPr>
      <p:grpSpPr>
        <a:xfrm>
          <a:off x="0" y="0"/>
          <a:ext cx="0" cy="0"/>
          <a:chOff x="0" y="0"/>
          <a:chExt cx="0" cy="0"/>
        </a:xfrm>
      </p:grpSpPr>
      <p:sp>
        <p:nvSpPr>
          <p:cNvPr id="10" name="عنوان 1">
            <a:extLst>
              <a:ext uri="{FF2B5EF4-FFF2-40B4-BE49-F238E27FC236}">
                <a16:creationId xmlns:a16="http://schemas.microsoft.com/office/drawing/2014/main" id="{D5C8CBBF-26AC-9479-CB50-30C3A81A76E6}"/>
              </a:ext>
            </a:extLst>
          </p:cNvPr>
          <p:cNvSpPr>
            <a:spLocks noGrp="1"/>
          </p:cNvSpPr>
          <p:nvPr>
            <p:ph type="title"/>
          </p:nvPr>
        </p:nvSpPr>
        <p:spPr>
          <a:xfrm>
            <a:off x="4138305" y="828675"/>
            <a:ext cx="3915390" cy="854754"/>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أهمية المشروع</a:t>
            </a:r>
          </a:p>
        </p:txBody>
      </p:sp>
      <p:sp>
        <p:nvSpPr>
          <p:cNvPr id="11" name="مربع نص 10">
            <a:extLst>
              <a:ext uri="{FF2B5EF4-FFF2-40B4-BE49-F238E27FC236}">
                <a16:creationId xmlns:a16="http://schemas.microsoft.com/office/drawing/2014/main" id="{DE9F9A3E-15D8-40FE-B870-3AFA6CAC1BD4}"/>
              </a:ext>
            </a:extLst>
          </p:cNvPr>
          <p:cNvSpPr txBox="1"/>
          <p:nvPr/>
        </p:nvSpPr>
        <p:spPr>
          <a:xfrm>
            <a:off x="3048000" y="2584520"/>
            <a:ext cx="6096000" cy="2554545"/>
          </a:xfrm>
          <a:prstGeom prst="rect">
            <a:avLst/>
          </a:prstGeom>
          <a:noFill/>
        </p:spPr>
        <p:txBody>
          <a:bodyPr wrap="square">
            <a:spAutoFit/>
          </a:bodyPr>
          <a:lstStyle/>
          <a:p>
            <a:pPr algn="r" rtl="1"/>
            <a:r>
              <a:rPr lang="ar-AE" sz="2000" dirty="0"/>
              <a:t>تتجلى أهمية المشروع في النقاط التالية:</a:t>
            </a:r>
          </a:p>
          <a:p>
            <a:pPr algn="r" rtl="1"/>
            <a:r>
              <a:rPr lang="en-US" sz="2000" dirty="0"/>
              <a:t>o	</a:t>
            </a:r>
            <a:r>
              <a:rPr lang="ar-AE" sz="2000" dirty="0"/>
              <a:t>تقديم نموذج تقني متكامل لإدارة المؤتمرات الذكية.</a:t>
            </a:r>
          </a:p>
          <a:p>
            <a:pPr algn="r" rtl="1"/>
            <a:r>
              <a:rPr lang="en-US" sz="2000" dirty="0"/>
              <a:t>o	</a:t>
            </a:r>
            <a:r>
              <a:rPr lang="ar-AE" sz="2000" dirty="0"/>
              <a:t>توفير حل تقني فعال واقتصادي للمؤسسات الأكاديمية والبحثية.</a:t>
            </a:r>
          </a:p>
          <a:p>
            <a:pPr algn="r" rtl="1"/>
            <a:r>
              <a:rPr lang="en-US" sz="2000" dirty="0"/>
              <a:t>o	</a:t>
            </a:r>
            <a:r>
              <a:rPr lang="ar-AE" sz="2000" dirty="0"/>
              <a:t>تحسين جودة المؤتمرات ورفع كفاءة عمليات التنظيم والإدارة.</a:t>
            </a:r>
          </a:p>
          <a:p>
            <a:pPr algn="r" rtl="1"/>
            <a:r>
              <a:rPr lang="en-US" sz="2000" dirty="0"/>
              <a:t>o	</a:t>
            </a:r>
            <a:r>
              <a:rPr lang="ar-AE" sz="2000" dirty="0"/>
              <a:t>دعم الحركة العلمية والبحثية في سوريا.</a:t>
            </a:r>
          </a:p>
          <a:p>
            <a:pPr algn="r" rtl="1"/>
            <a:r>
              <a:rPr lang="en-US" sz="2000" dirty="0"/>
              <a:t>o	</a:t>
            </a:r>
            <a:r>
              <a:rPr lang="ar-AE" sz="2000" dirty="0"/>
              <a:t>المساهمة في بناء مجتمع معرفي تفاعلي.</a:t>
            </a:r>
          </a:p>
          <a:p>
            <a:pPr algn="r" rtl="1"/>
            <a:r>
              <a:rPr lang="en-US" sz="2000" dirty="0"/>
              <a:t>o	</a:t>
            </a:r>
            <a:r>
              <a:rPr lang="ar-AE" sz="2000" dirty="0"/>
              <a:t>خفض تكاليف تنظيم المؤتمرات.</a:t>
            </a:r>
          </a:p>
          <a:p>
            <a:pPr algn="r" rtl="1"/>
            <a:r>
              <a:rPr lang="en-US" sz="2000" dirty="0"/>
              <a:t>o	</a:t>
            </a:r>
            <a:r>
              <a:rPr lang="ar-AE" sz="2000" dirty="0"/>
              <a:t>توفير فرص عمل في مجال البرمجة وتطوير التطبيقات.</a:t>
            </a:r>
          </a:p>
        </p:txBody>
      </p:sp>
    </p:spTree>
    <p:extLst>
      <p:ext uri="{BB962C8B-B14F-4D97-AF65-F5344CB8AC3E}">
        <p14:creationId xmlns:p14="http://schemas.microsoft.com/office/powerpoint/2010/main" val="290507086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CDFC9-7B17-C526-8C73-77347AF9BF77}"/>
            </a:ext>
          </a:extLst>
        </p:cNvPr>
        <p:cNvGrpSpPr/>
        <p:nvPr/>
      </p:nvGrpSpPr>
      <p:grpSpPr>
        <a:xfrm>
          <a:off x="0" y="0"/>
          <a:ext cx="0" cy="0"/>
          <a:chOff x="0" y="0"/>
          <a:chExt cx="0" cy="0"/>
        </a:xfrm>
      </p:grpSpPr>
      <p:sp>
        <p:nvSpPr>
          <p:cNvPr id="10" name="عنوان 1">
            <a:extLst>
              <a:ext uri="{FF2B5EF4-FFF2-40B4-BE49-F238E27FC236}">
                <a16:creationId xmlns:a16="http://schemas.microsoft.com/office/drawing/2014/main" id="{0A687E6E-EB7F-5301-73BE-9DA84217363B}"/>
              </a:ext>
            </a:extLst>
          </p:cNvPr>
          <p:cNvSpPr>
            <a:spLocks noGrp="1"/>
          </p:cNvSpPr>
          <p:nvPr>
            <p:ph type="title"/>
          </p:nvPr>
        </p:nvSpPr>
        <p:spPr>
          <a:xfrm>
            <a:off x="4199910" y="733424"/>
            <a:ext cx="3639165" cy="84522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هدف المشروع</a:t>
            </a:r>
          </a:p>
        </p:txBody>
      </p:sp>
      <p:sp>
        <p:nvSpPr>
          <p:cNvPr id="5" name="مربع نص 4">
            <a:extLst>
              <a:ext uri="{FF2B5EF4-FFF2-40B4-BE49-F238E27FC236}">
                <a16:creationId xmlns:a16="http://schemas.microsoft.com/office/drawing/2014/main" id="{AF2BB5DB-7733-4A83-A10B-66AF0A0322ED}"/>
              </a:ext>
            </a:extLst>
          </p:cNvPr>
          <p:cNvSpPr txBox="1"/>
          <p:nvPr/>
        </p:nvSpPr>
        <p:spPr>
          <a:xfrm>
            <a:off x="1714192" y="2049430"/>
            <a:ext cx="8286750" cy="4617931"/>
          </a:xfrm>
          <a:prstGeom prst="rect">
            <a:avLst/>
          </a:prstGeom>
          <a:noFill/>
        </p:spPr>
        <p:txBody>
          <a:bodyPr wrap="square">
            <a:spAutoFit/>
          </a:bodyPr>
          <a:lstStyle/>
          <a:p>
            <a:pPr algn="justLow" rtl="1">
              <a:lnSpc>
                <a:spcPct val="150000"/>
              </a:lnSpc>
              <a:spcAft>
                <a:spcPts val="800"/>
              </a:spcAft>
            </a:pP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تصميم وتطوير منصة إلكترونية متكاملة لإدارة المؤتمرات الذكية باستخدام تقنيات</a:t>
            </a:r>
            <a:r>
              <a:rPr lang="en-US" sz="1800" kern="100" dirty="0">
                <a:effectLst/>
                <a:latin typeface="Simplified Arabic" panose="02020603050405020304" pitchFamily="18" charset="-78"/>
                <a:ea typeface="Arial" panose="020B0604020202020204" pitchFamily="34" charset="0"/>
              </a:rPr>
              <a:t> Django </a:t>
            </a: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و</a:t>
            </a:r>
            <a:r>
              <a:rPr lang="en-US" sz="1800" kern="100" dirty="0">
                <a:effectLst/>
                <a:latin typeface="Simplified Arabic" panose="02020603050405020304" pitchFamily="18" charset="-78"/>
                <a:ea typeface="Arial" panose="020B0604020202020204" pitchFamily="34" charset="0"/>
              </a:rPr>
              <a:t>Python</a:t>
            </a:r>
            <a:r>
              <a:rPr lang="ar-AE" sz="1800" kern="100" dirty="0">
                <a:effectLst/>
                <a:latin typeface="Calibri" panose="020F0502020204030204" pitchFamily="34" charset="0"/>
                <a:ea typeface="Arial" panose="020B0604020202020204" pitchFamily="34" charset="0"/>
                <a:cs typeface="Simplified Arabic" panose="02020603050405020304" pitchFamily="18" charset="-78"/>
              </a:rPr>
              <a:t>.</a:t>
            </a:r>
            <a:endParaRPr lang="en-US" sz="1200" kern="100" dirty="0">
              <a:effectLst/>
              <a:latin typeface="Calibri" panose="020F0502020204030204" pitchFamily="34" charset="0"/>
              <a:ea typeface="Calibri" panose="020F0502020204030204" pitchFamily="34" charset="0"/>
            </a:endParaRPr>
          </a:p>
          <a:p>
            <a:pPr algn="justLow" rtl="1">
              <a:lnSpc>
                <a:spcPct val="150000"/>
              </a:lnSpc>
              <a:spcAft>
                <a:spcPts val="800"/>
              </a:spcAft>
            </a:pPr>
            <a:r>
              <a:rPr lang="ar-SA" sz="1800" b="1" kern="100" dirty="0">
                <a:effectLst/>
                <a:latin typeface="Calibri" panose="020F0502020204030204" pitchFamily="34" charset="0"/>
                <a:ea typeface="Arial" panose="020B0604020202020204" pitchFamily="34" charset="0"/>
                <a:cs typeface="Simplified Arabic" panose="02020603050405020304" pitchFamily="18" charset="-78"/>
              </a:rPr>
              <a:t>الأهداف الفرعية</a:t>
            </a:r>
            <a:r>
              <a:rPr lang="en-US" sz="1800" kern="100" dirty="0">
                <a:effectLst/>
                <a:latin typeface="Simplified Arabic" panose="02020603050405020304" pitchFamily="18" charset="-78"/>
                <a:ea typeface="Arial" panose="020B0604020202020204" pitchFamily="34" charset="0"/>
              </a:rPr>
              <a:t>:</a:t>
            </a:r>
            <a:endParaRPr lang="en-US" sz="1200" kern="100" dirty="0">
              <a:effectLst/>
              <a:latin typeface="Calibri" panose="020F0502020204030204" pitchFamily="34" charset="0"/>
              <a:ea typeface="Calibri" panose="020F0502020204030204" pitchFamily="34" charset="0"/>
            </a:endParaRPr>
          </a:p>
          <a:p>
            <a:pPr marL="342900" lvl="0" indent="-342900" algn="justLow" rtl="1">
              <a:lnSpc>
                <a:spcPct val="150000"/>
              </a:lnSpc>
              <a:spcAft>
                <a:spcPts val="800"/>
              </a:spcAft>
              <a:buFont typeface="Arial" panose="020B0604020202020204" pitchFamily="34" charset="0"/>
              <a:buChar char="•"/>
              <a:tabLst>
                <a:tab pos="457200" algn="l"/>
              </a:tabLst>
            </a:pP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تطوير نظام إدارة متكامل للمؤتمرات يشمل التخطيط، التنظيم، التنفيذ، والتقييم</a:t>
            </a:r>
            <a:r>
              <a:rPr lang="en-US" sz="1800" kern="100" dirty="0">
                <a:effectLst/>
                <a:latin typeface="Simplified Arabic" panose="02020603050405020304" pitchFamily="18" charset="-78"/>
                <a:ea typeface="Arial" panose="020B0604020202020204" pitchFamily="34" charset="0"/>
              </a:rPr>
              <a:t>.</a:t>
            </a:r>
            <a:endParaRPr lang="en-US" sz="1200" kern="100" dirty="0">
              <a:effectLst/>
              <a:latin typeface="Calibri" panose="020F0502020204030204" pitchFamily="34" charset="0"/>
              <a:ea typeface="Calibri" panose="020F0502020204030204" pitchFamily="34" charset="0"/>
            </a:endParaRPr>
          </a:p>
          <a:p>
            <a:pPr marL="342900" lvl="0" indent="-342900" algn="justLow" rtl="1">
              <a:lnSpc>
                <a:spcPct val="150000"/>
              </a:lnSpc>
              <a:spcAft>
                <a:spcPts val="800"/>
              </a:spcAft>
              <a:buFont typeface="Arial" panose="020B0604020202020204" pitchFamily="34" charset="0"/>
              <a:buChar char="•"/>
              <a:tabLst>
                <a:tab pos="457200" algn="l"/>
              </a:tabLst>
            </a:pP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تصميم واجهة مستخدم عربية سهلة الاستخدام ومتكيفة مع السياق المحلي السوري</a:t>
            </a:r>
            <a:r>
              <a:rPr lang="en-US" sz="1800" kern="100" dirty="0">
                <a:effectLst/>
                <a:latin typeface="Simplified Arabic" panose="02020603050405020304" pitchFamily="18" charset="-78"/>
                <a:ea typeface="Arial" panose="020B0604020202020204" pitchFamily="34" charset="0"/>
              </a:rPr>
              <a:t>.</a:t>
            </a:r>
            <a:endParaRPr lang="en-US" sz="1200" kern="100" dirty="0">
              <a:effectLst/>
              <a:latin typeface="Calibri" panose="020F0502020204030204" pitchFamily="34" charset="0"/>
              <a:ea typeface="Calibri" panose="020F0502020204030204" pitchFamily="34" charset="0"/>
            </a:endParaRPr>
          </a:p>
          <a:p>
            <a:pPr marL="342900" lvl="0" indent="-342900" algn="justLow" rtl="1">
              <a:lnSpc>
                <a:spcPct val="150000"/>
              </a:lnSpc>
              <a:spcAft>
                <a:spcPts val="800"/>
              </a:spcAft>
              <a:buFont typeface="Arial" panose="020B0604020202020204" pitchFamily="34" charset="0"/>
              <a:buChar char="•"/>
              <a:tabLst>
                <a:tab pos="457200" algn="l"/>
              </a:tabLst>
            </a:pP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إنشاء نظام لإدارة المشاركين والمتحدثين والجلسات والمواد العلمية</a:t>
            </a:r>
            <a:r>
              <a:rPr lang="en-US" sz="1800" kern="100" dirty="0">
                <a:effectLst/>
                <a:latin typeface="Simplified Arabic" panose="02020603050405020304" pitchFamily="18" charset="-78"/>
                <a:ea typeface="Arial" panose="020B0604020202020204" pitchFamily="34" charset="0"/>
              </a:rPr>
              <a:t>.</a:t>
            </a:r>
            <a:endParaRPr lang="en-US" sz="1200" kern="100" dirty="0">
              <a:effectLst/>
              <a:latin typeface="Calibri" panose="020F0502020204030204" pitchFamily="34" charset="0"/>
              <a:ea typeface="Calibri" panose="020F0502020204030204" pitchFamily="34" charset="0"/>
            </a:endParaRPr>
          </a:p>
          <a:p>
            <a:pPr marL="342900" lvl="0" indent="-342900" algn="justLow" rtl="1">
              <a:lnSpc>
                <a:spcPct val="150000"/>
              </a:lnSpc>
              <a:spcAft>
                <a:spcPts val="800"/>
              </a:spcAft>
              <a:buFont typeface="Arial" panose="020B0604020202020204" pitchFamily="34" charset="0"/>
              <a:buChar char="•"/>
              <a:tabLst>
                <a:tab pos="457200" algn="l"/>
              </a:tabLst>
            </a:pP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تطوير آليات تفاعلية لتسهيل التواصل بين جميع أطراف المؤتمر</a:t>
            </a:r>
            <a:r>
              <a:rPr lang="en-US" sz="1800" kern="100" dirty="0">
                <a:effectLst/>
                <a:latin typeface="Simplified Arabic" panose="02020603050405020304" pitchFamily="18" charset="-78"/>
                <a:ea typeface="Arial" panose="020B0604020202020204" pitchFamily="34" charset="0"/>
              </a:rPr>
              <a:t>.</a:t>
            </a:r>
            <a:endParaRPr lang="en-US" sz="1200" kern="100" dirty="0">
              <a:effectLst/>
              <a:latin typeface="Calibri" panose="020F0502020204030204" pitchFamily="34" charset="0"/>
              <a:ea typeface="Calibri" panose="020F0502020204030204" pitchFamily="34" charset="0"/>
            </a:endParaRPr>
          </a:p>
          <a:p>
            <a:pPr marL="342900" lvl="0" indent="-342900" algn="justLow" rtl="1">
              <a:lnSpc>
                <a:spcPct val="150000"/>
              </a:lnSpc>
              <a:spcAft>
                <a:spcPts val="800"/>
              </a:spcAft>
              <a:buFont typeface="Arial" panose="020B0604020202020204" pitchFamily="34" charset="0"/>
              <a:buChar char="•"/>
              <a:tabLst>
                <a:tab pos="457200" algn="l"/>
              </a:tabLst>
            </a:pP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تصميم نظام تحليلي وإحصائي متقدم لقياس أداء المؤتمرات</a:t>
            </a:r>
            <a:r>
              <a:rPr lang="en-US" sz="1800" kern="100" dirty="0">
                <a:effectLst/>
                <a:latin typeface="Simplified Arabic" panose="02020603050405020304" pitchFamily="18" charset="-78"/>
                <a:ea typeface="Arial" panose="020B0604020202020204" pitchFamily="34" charset="0"/>
              </a:rPr>
              <a:t>.</a:t>
            </a:r>
            <a:endParaRPr lang="en-US" sz="1200" kern="100" dirty="0">
              <a:effectLst/>
              <a:latin typeface="Calibri" panose="020F0502020204030204" pitchFamily="34" charset="0"/>
              <a:ea typeface="Calibri" panose="020F0502020204030204" pitchFamily="34" charset="0"/>
            </a:endParaRPr>
          </a:p>
          <a:p>
            <a:pPr marL="342900" lvl="0" indent="-342900" algn="justLow" rtl="1">
              <a:lnSpc>
                <a:spcPct val="150000"/>
              </a:lnSpc>
              <a:spcAft>
                <a:spcPts val="800"/>
              </a:spcAft>
              <a:buFont typeface="Arial" panose="020B0604020202020204" pitchFamily="34" charset="0"/>
              <a:buChar char="•"/>
              <a:tabLst>
                <a:tab pos="457200" algn="l"/>
              </a:tabLst>
            </a:pP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بناء نظام تقارير ذكي يمكن من تصدير البيانات بتنسيقات متعددة</a:t>
            </a:r>
            <a:r>
              <a:rPr lang="en-US" sz="1800" kern="100" dirty="0">
                <a:effectLst/>
                <a:latin typeface="Simplified Arabic" panose="02020603050405020304" pitchFamily="18" charset="-78"/>
                <a:ea typeface="Arial" panose="020B0604020202020204" pitchFamily="34" charset="0"/>
              </a:rPr>
              <a:t>.</a:t>
            </a:r>
            <a:endParaRPr lang="en-US" sz="1200" kern="100" dirty="0">
              <a:effectLst/>
              <a:latin typeface="Calibri" panose="020F0502020204030204" pitchFamily="34" charset="0"/>
              <a:ea typeface="Calibri" panose="020F0502020204030204" pitchFamily="34" charset="0"/>
            </a:endParaRPr>
          </a:p>
          <a:p>
            <a:pPr marL="342900" lvl="0" indent="-342900" algn="justLow" rtl="1">
              <a:lnSpc>
                <a:spcPct val="150000"/>
              </a:lnSpc>
              <a:spcAft>
                <a:spcPts val="800"/>
              </a:spcAft>
              <a:buFont typeface="Arial" panose="020B0604020202020204" pitchFamily="34" charset="0"/>
              <a:buChar char="•"/>
              <a:tabLst>
                <a:tab pos="457200" algn="l"/>
              </a:tabLst>
            </a:pPr>
            <a:r>
              <a:rPr lang="ar-SA" sz="1800" kern="100" dirty="0">
                <a:effectLst/>
                <a:latin typeface="Calibri" panose="020F0502020204030204" pitchFamily="34" charset="0"/>
                <a:ea typeface="Arial" panose="020B0604020202020204" pitchFamily="34" charset="0"/>
                <a:cs typeface="Simplified Arabic" panose="02020603050405020304" pitchFamily="18" charset="-78"/>
              </a:rPr>
              <a:t>ضمان قابلية التوسع والأمان والحفاظ على البيانات</a:t>
            </a:r>
            <a:r>
              <a:rPr lang="en-US" sz="1800" kern="100" dirty="0">
                <a:effectLst/>
                <a:latin typeface="Simplified Arabic" panose="02020603050405020304" pitchFamily="18" charset="-78"/>
                <a:ea typeface="Arial" panose="020B0604020202020204" pitchFamily="34" charset="0"/>
              </a:rPr>
              <a:t>.</a:t>
            </a:r>
            <a:endParaRPr lang="en-US" sz="1200" kern="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37004244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CDFC9-7B17-C526-8C73-77347AF9BF77}"/>
            </a:ext>
          </a:extLst>
        </p:cNvPr>
        <p:cNvGrpSpPr/>
        <p:nvPr/>
      </p:nvGrpSpPr>
      <p:grpSpPr>
        <a:xfrm>
          <a:off x="0" y="0"/>
          <a:ext cx="0" cy="0"/>
          <a:chOff x="0" y="0"/>
          <a:chExt cx="0" cy="0"/>
        </a:xfrm>
      </p:grpSpPr>
      <p:sp>
        <p:nvSpPr>
          <p:cNvPr id="10" name="عنوان 1">
            <a:extLst>
              <a:ext uri="{FF2B5EF4-FFF2-40B4-BE49-F238E27FC236}">
                <a16:creationId xmlns:a16="http://schemas.microsoft.com/office/drawing/2014/main" id="{0A687E6E-EB7F-5301-73BE-9DA84217363B}"/>
              </a:ext>
            </a:extLst>
          </p:cNvPr>
          <p:cNvSpPr>
            <a:spLocks noGrp="1"/>
          </p:cNvSpPr>
          <p:nvPr>
            <p:ph type="title"/>
          </p:nvPr>
        </p:nvSpPr>
        <p:spPr>
          <a:xfrm>
            <a:off x="3895111" y="809624"/>
            <a:ext cx="3972540" cy="84522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الدراسة المرجعية</a:t>
            </a:r>
          </a:p>
        </p:txBody>
      </p:sp>
      <p:sp>
        <p:nvSpPr>
          <p:cNvPr id="6" name="مربع نص 5">
            <a:extLst>
              <a:ext uri="{FF2B5EF4-FFF2-40B4-BE49-F238E27FC236}">
                <a16:creationId xmlns:a16="http://schemas.microsoft.com/office/drawing/2014/main" id="{196B7A61-16CE-4908-906D-535169BDBA29}"/>
              </a:ext>
            </a:extLst>
          </p:cNvPr>
          <p:cNvSpPr txBox="1"/>
          <p:nvPr/>
        </p:nvSpPr>
        <p:spPr>
          <a:xfrm>
            <a:off x="754397" y="2024626"/>
            <a:ext cx="10253968" cy="4833374"/>
          </a:xfrm>
          <a:prstGeom prst="rect">
            <a:avLst/>
          </a:prstGeom>
          <a:noFill/>
        </p:spPr>
        <p:txBody>
          <a:bodyPr wrap="square">
            <a:spAutoFit/>
          </a:bodyPr>
          <a:lstStyle/>
          <a:p>
            <a:pPr marL="342900" lvl="0" indent="-342900" algn="justLow" rtl="1">
              <a:lnSpc>
                <a:spcPct val="150000"/>
              </a:lnSpc>
              <a:spcAft>
                <a:spcPts val="800"/>
              </a:spcAft>
              <a:buFont typeface="+mj-lt"/>
              <a:buAutoNum type="arabicPeriod"/>
            </a:pPr>
            <a:r>
              <a:rPr lang="ar-AE"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منصة </a:t>
            </a:r>
            <a:r>
              <a:rPr lang="en-US"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Eventbrite</a:t>
            </a:r>
            <a:r>
              <a:rPr lang="ar-AE"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ar-AE"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تقدم</a:t>
            </a:r>
            <a:r>
              <a:rPr lang="ar-AE"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ar-SA"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واجهة مستخدم بسيطة وسهلة الاستخدام، ونظام تذاكر متكامل بالإضافة إلى دعم متعدد اللغات وتكامل مع وسائل التواصل الاجتماعي، إضافة إلى تحليلات وأدوات تسويقية متقدمة</a:t>
            </a:r>
            <a:r>
              <a:rPr lang="ar-AE"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ar-AE"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ولكن من سلبيات هذه المنصة رسوم الخدمة المرتفعة ومحدودية التخصيص للطلبات المحلية، إضافة إلى ضعف إدارة المحتوى العلمي، وعدم دعم اللغة العربية بشكل كامل، وأيضاً محدودية الأدوات الإدارية للمنظمين</a:t>
            </a:r>
          </a:p>
          <a:p>
            <a:pPr marL="342900" lvl="0" indent="-342900" algn="justLow" rtl="1">
              <a:lnSpc>
                <a:spcPct val="150000"/>
              </a:lnSpc>
              <a:spcAft>
                <a:spcPts val="800"/>
              </a:spcAft>
              <a:buFont typeface="+mj-lt"/>
              <a:buAutoNum type="arabicPeriod"/>
            </a:pPr>
            <a:r>
              <a:rPr lang="ar-SA"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منصة </a:t>
            </a:r>
            <a:r>
              <a:rPr lang="en-US"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Cvent</a:t>
            </a:r>
            <a:r>
              <a:rPr lang="ar-AE"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ar-AE"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تقدم </a:t>
            </a:r>
            <a:r>
              <a:rPr lang="ar-SA"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نظاماً متكاملاً لإدارة الفعاليات الكبيرة مع وجود أدوات تخطيط وتنظيم متقدمة، إضافة إلى تحليلات وأبحاث سوقية ودعم الفعاليات الافتراضية والهجينة وأيضاً إدارة علاقات العملاء </a:t>
            </a:r>
            <a:r>
              <a:rPr lang="en-US"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CRM</a:t>
            </a:r>
            <a:r>
              <a:rPr lang="ar-AE"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ar-AE"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ar-AE"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لكن من سلبيات هذه المنصة أن استخدامها يعتبر معقداً بالإضافة إلى تكاليف عالية جداً وعدم ملائمة الفعاليات الصغيرة والمتوسطة.</a:t>
            </a:r>
            <a:endParaRPr lang="ar-AE" kern="100" dirty="0">
              <a:latin typeface="Arial" panose="020B0604020202020204" pitchFamily="34" charset="0"/>
              <a:ea typeface="Calibri" panose="020F0502020204030204" pitchFamily="34" charset="0"/>
              <a:cs typeface="Arial" panose="020B0604020202020204" pitchFamily="34" charset="0"/>
            </a:endParaRPr>
          </a:p>
          <a:p>
            <a:pPr marL="342900" lvl="0" indent="-342900" algn="justLow" rtl="1">
              <a:lnSpc>
                <a:spcPct val="150000"/>
              </a:lnSpc>
              <a:spcAft>
                <a:spcPts val="800"/>
              </a:spcAft>
              <a:buFont typeface="+mj-lt"/>
              <a:buAutoNum type="arabicPeriod"/>
            </a:pPr>
            <a:r>
              <a:rPr lang="ar-SA"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منصة </a:t>
            </a:r>
            <a:r>
              <a:rPr lang="en-US" sz="1800" b="1" kern="100" dirty="0" err="1">
                <a:solidFill>
                  <a:srgbClr val="000000"/>
                </a:solidFill>
                <a:effectLst/>
                <a:latin typeface="Arial" panose="020B0604020202020204" pitchFamily="34" charset="0"/>
                <a:ea typeface="Calibri" panose="020F0502020204030204" pitchFamily="34" charset="0"/>
                <a:cs typeface="Arial" panose="020B0604020202020204" pitchFamily="34" charset="0"/>
              </a:rPr>
              <a:t>ConfTool</a:t>
            </a:r>
            <a:r>
              <a:rPr lang="ar-AE" sz="180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 </a:t>
            </a:r>
            <a:r>
              <a:rPr lang="ar-AE"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تعتبر منصة </a:t>
            </a:r>
            <a:r>
              <a:rPr lang="ar-SA" sz="1800"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متخصصة في المؤتمرات الأكاديمية كما تحتوي على نظام مراجعة الأوراق العلمية ونظام إدارة الجلسات والمتحدثين، إضافة إلى تقارير وإحصائيات متخصصة مع دعم المعايير الأكاديمية، لكن ما يعيب هذه المنصة هي أن الواجهات الخاصة بها قديمة وغير جذابة، إضافة إلى محدودية التكامل مع أنظمة أخرى مما يؤدي إلى ضعف في التسويق، وأيضاً تعقيد في الإعداد والتهيئة</a:t>
            </a:r>
            <a:endParaRPr lang="ar-AE" sz="1400" kern="100" dirty="0">
              <a:solidFill>
                <a:srgbClr val="000000"/>
              </a:solidFill>
              <a:latin typeface="Arial" panose="020B060402020202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5223201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CDFC9-7B17-C526-8C73-77347AF9BF77}"/>
            </a:ext>
          </a:extLst>
        </p:cNvPr>
        <p:cNvGrpSpPr/>
        <p:nvPr/>
      </p:nvGrpSpPr>
      <p:grpSpPr>
        <a:xfrm>
          <a:off x="0" y="0"/>
          <a:ext cx="0" cy="0"/>
          <a:chOff x="0" y="0"/>
          <a:chExt cx="0" cy="0"/>
        </a:xfrm>
      </p:grpSpPr>
      <p:sp>
        <p:nvSpPr>
          <p:cNvPr id="10" name="عنوان 1">
            <a:extLst>
              <a:ext uri="{FF2B5EF4-FFF2-40B4-BE49-F238E27FC236}">
                <a16:creationId xmlns:a16="http://schemas.microsoft.com/office/drawing/2014/main" id="{0A687E6E-EB7F-5301-73BE-9DA84217363B}"/>
              </a:ext>
            </a:extLst>
          </p:cNvPr>
          <p:cNvSpPr>
            <a:spLocks noGrp="1"/>
          </p:cNvSpPr>
          <p:nvPr>
            <p:ph type="title"/>
          </p:nvPr>
        </p:nvSpPr>
        <p:spPr>
          <a:xfrm>
            <a:off x="4572000" y="787357"/>
            <a:ext cx="3715364" cy="835704"/>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المتطلبات العامة</a:t>
            </a:r>
          </a:p>
        </p:txBody>
      </p:sp>
      <p:sp>
        <p:nvSpPr>
          <p:cNvPr id="5" name="مربع نص 4">
            <a:extLst>
              <a:ext uri="{FF2B5EF4-FFF2-40B4-BE49-F238E27FC236}">
                <a16:creationId xmlns:a16="http://schemas.microsoft.com/office/drawing/2014/main" id="{5E455613-02C0-48A5-ACC8-647BA716B7A3}"/>
              </a:ext>
            </a:extLst>
          </p:cNvPr>
          <p:cNvSpPr txBox="1"/>
          <p:nvPr/>
        </p:nvSpPr>
        <p:spPr>
          <a:xfrm>
            <a:off x="6096000" y="2190995"/>
            <a:ext cx="6096000" cy="3368871"/>
          </a:xfrm>
          <a:prstGeom prst="rect">
            <a:avLst/>
          </a:prstGeom>
          <a:noFill/>
        </p:spPr>
        <p:txBody>
          <a:bodyPr wrap="square">
            <a:spAutoFit/>
          </a:bodyPr>
          <a:lstStyle/>
          <a:p>
            <a:pPr marL="342900" lvl="0" indent="-342900" algn="justLow" rtl="1">
              <a:lnSpc>
                <a:spcPct val="150000"/>
              </a:lnSpc>
              <a:spcAft>
                <a:spcPts val="800"/>
              </a:spcAft>
              <a:buFont typeface="Symbol" panose="05050102010706020507" pitchFamily="18" charset="2"/>
              <a:buChar char=""/>
            </a:pPr>
            <a:r>
              <a:rPr lang="ar-SA" sz="1400" b="1" kern="100" dirty="0">
                <a:effectLst/>
                <a:latin typeface="Calibri" panose="020F0502020204030204" pitchFamily="34" charset="0"/>
                <a:ea typeface="Arial" panose="020B0604020202020204" pitchFamily="34" charset="0"/>
                <a:cs typeface="Simplified Arabic" panose="02020603050405020304" pitchFamily="18" charset="-78"/>
              </a:rPr>
              <a:t>المتطلبات الوظيفية بالمتحدث:</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إنشاء حساب.</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تسجيل الدخول.</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تعديل البيانات الشخصية.</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عرض الملف الشخصي</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عرض الجلسات الموكلة للمتحدث ضمن مؤتمر</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عرض الجدول الشخصي ضمن مؤتمر.</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عرض جدول المؤتمر.</a:t>
            </a:r>
            <a:endParaRPr lang="en-US" sz="1050" kern="100" dirty="0">
              <a:effectLst/>
              <a:latin typeface="Calibri" panose="020F0502020204030204" pitchFamily="34" charset="0"/>
              <a:ea typeface="Calibri" panose="020F0502020204030204" pitchFamily="34" charset="0"/>
            </a:endParaRPr>
          </a:p>
        </p:txBody>
      </p:sp>
      <p:sp>
        <p:nvSpPr>
          <p:cNvPr id="7" name="مربع نص 6">
            <a:extLst>
              <a:ext uri="{FF2B5EF4-FFF2-40B4-BE49-F238E27FC236}">
                <a16:creationId xmlns:a16="http://schemas.microsoft.com/office/drawing/2014/main" id="{2081D085-6D33-4838-9345-0BA29F81F019}"/>
              </a:ext>
            </a:extLst>
          </p:cNvPr>
          <p:cNvSpPr txBox="1"/>
          <p:nvPr/>
        </p:nvSpPr>
        <p:spPr>
          <a:xfrm>
            <a:off x="0" y="2090940"/>
            <a:ext cx="6096000" cy="4117794"/>
          </a:xfrm>
          <a:prstGeom prst="rect">
            <a:avLst/>
          </a:prstGeom>
          <a:noFill/>
        </p:spPr>
        <p:txBody>
          <a:bodyPr wrap="square">
            <a:spAutoFit/>
          </a:bodyPr>
          <a:lstStyle/>
          <a:p>
            <a:pPr marL="342900" lvl="0" indent="-342900" algn="justLow" rtl="1">
              <a:lnSpc>
                <a:spcPct val="150000"/>
              </a:lnSpc>
              <a:spcAft>
                <a:spcPts val="800"/>
              </a:spcAft>
              <a:buFont typeface="Symbol" panose="05050102010706020507" pitchFamily="18" charset="2"/>
              <a:buChar char=""/>
            </a:pPr>
            <a:r>
              <a:rPr lang="ar-SA" sz="1400" b="1" kern="100" dirty="0">
                <a:effectLst/>
                <a:latin typeface="Calibri" panose="020F0502020204030204" pitchFamily="34" charset="0"/>
                <a:ea typeface="Arial" panose="020B0604020202020204" pitchFamily="34" charset="0"/>
                <a:cs typeface="Simplified Arabic" panose="02020603050405020304" pitchFamily="18" charset="-78"/>
              </a:rPr>
              <a:t>المتطلبات الوظيفية بالمشارك:</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إنشاء حساب</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تسجيل الدخول.</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تعديل البيانات الشخصية.</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عرض الملف الشخصي.</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عرض جدول المؤتمر</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إدارة المشاركات في المؤتمرات من خلال القيام بعمليات (طلب مشاركة، إلغاء طلب، تتبع حالة طلب، عرض قائمة المؤتمرات).</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عرض قائمة المواد العلمية ضمن مؤتمر</a:t>
            </a:r>
            <a:endParaRPr lang="en-US" sz="105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400" kern="100" dirty="0">
                <a:effectLst/>
                <a:latin typeface="Calibri" panose="020F0502020204030204" pitchFamily="34" charset="0"/>
                <a:ea typeface="Arial" panose="020B0604020202020204" pitchFamily="34" charset="0"/>
                <a:cs typeface="Simplified Arabic" panose="02020603050405020304" pitchFamily="18" charset="-78"/>
              </a:rPr>
              <a:t>تحميل الشهادة الإلكترونية بعد انتهاء المؤتمر</a:t>
            </a:r>
            <a:endParaRPr lang="en-US" sz="1050" kern="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147092027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CDFC9-7B17-C526-8C73-77347AF9BF77}"/>
            </a:ext>
          </a:extLst>
        </p:cNvPr>
        <p:cNvGrpSpPr/>
        <p:nvPr/>
      </p:nvGrpSpPr>
      <p:grpSpPr>
        <a:xfrm>
          <a:off x="0" y="0"/>
          <a:ext cx="0" cy="0"/>
          <a:chOff x="0" y="0"/>
          <a:chExt cx="0" cy="0"/>
        </a:xfrm>
      </p:grpSpPr>
      <p:sp>
        <p:nvSpPr>
          <p:cNvPr id="10" name="عنوان 1">
            <a:extLst>
              <a:ext uri="{FF2B5EF4-FFF2-40B4-BE49-F238E27FC236}">
                <a16:creationId xmlns:a16="http://schemas.microsoft.com/office/drawing/2014/main" id="{0A687E6E-EB7F-5301-73BE-9DA84217363B}"/>
              </a:ext>
            </a:extLst>
          </p:cNvPr>
          <p:cNvSpPr>
            <a:spLocks noGrp="1"/>
          </p:cNvSpPr>
          <p:nvPr>
            <p:ph type="title"/>
          </p:nvPr>
        </p:nvSpPr>
        <p:spPr>
          <a:xfrm>
            <a:off x="4552950" y="700656"/>
            <a:ext cx="3715364" cy="835704"/>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المتطلبات العامة</a:t>
            </a:r>
          </a:p>
        </p:txBody>
      </p:sp>
      <p:sp>
        <p:nvSpPr>
          <p:cNvPr id="5" name="مربع نص 4">
            <a:extLst>
              <a:ext uri="{FF2B5EF4-FFF2-40B4-BE49-F238E27FC236}">
                <a16:creationId xmlns:a16="http://schemas.microsoft.com/office/drawing/2014/main" id="{5E455613-02C0-48A5-ACC8-647BA716B7A3}"/>
              </a:ext>
            </a:extLst>
          </p:cNvPr>
          <p:cNvSpPr txBox="1"/>
          <p:nvPr/>
        </p:nvSpPr>
        <p:spPr>
          <a:xfrm>
            <a:off x="6019801" y="1962395"/>
            <a:ext cx="6096000" cy="4460195"/>
          </a:xfrm>
          <a:prstGeom prst="rect">
            <a:avLst/>
          </a:prstGeom>
          <a:noFill/>
        </p:spPr>
        <p:txBody>
          <a:bodyPr wrap="square">
            <a:spAutoFit/>
          </a:bodyPr>
          <a:lstStyle/>
          <a:p>
            <a:pPr marL="342900" lvl="0" indent="-342900" algn="just" rtl="1">
              <a:lnSpc>
                <a:spcPct val="150000"/>
              </a:lnSpc>
              <a:spcAft>
                <a:spcPts val="800"/>
              </a:spcAft>
              <a:buFont typeface="Symbol" panose="05050102010706020507" pitchFamily="18" charset="2"/>
              <a:buChar char=""/>
            </a:pPr>
            <a:r>
              <a:rPr lang="ar-SA" sz="1200" b="1" kern="100" dirty="0">
                <a:effectLst/>
                <a:latin typeface="Calibri" panose="020F0502020204030204" pitchFamily="34" charset="0"/>
                <a:ea typeface="Arial" panose="020B0604020202020204" pitchFamily="34" charset="0"/>
                <a:cs typeface="Simplified Arabic" panose="02020603050405020304" pitchFamily="18" charset="-78"/>
              </a:rPr>
              <a:t>المتطلبات الوظيفية الخاصة بمنظم المؤتمر:</a:t>
            </a:r>
            <a:endParaRPr lang="en-US" sz="120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إنشاء حساب</a:t>
            </a:r>
            <a:r>
              <a:rPr lang="ar-SA" sz="1200" b="1" kern="100" dirty="0">
                <a:effectLst/>
                <a:latin typeface="Calibri" panose="020F0502020204030204" pitchFamily="34" charset="0"/>
                <a:ea typeface="Arial" panose="020B0604020202020204" pitchFamily="34" charset="0"/>
                <a:cs typeface="Simplified Arabic" panose="02020603050405020304" pitchFamily="18" charset="-78"/>
              </a:rPr>
              <a:t>.</a:t>
            </a:r>
            <a:endParaRPr lang="en-US" sz="120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تسجيل الدخول.</a:t>
            </a:r>
            <a:endParaRPr lang="en-US" sz="120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تعديل البيانات الشخصية.</a:t>
            </a:r>
            <a:endParaRPr lang="en-US" sz="120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عرض الملف الشخصي</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المؤتمرات من خلال القيام بعمليات (إنشاء مؤتمر جديد، تعديل بيانات مؤتمر، حذف مؤتمر، عرض قائمة المؤتمرات).</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المشاركين ضمن مؤتمر من خلال القيام بعمليات (قبول، رفض، تغيير حالة، عرض قائمة المشاركين).</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المساهمات والأوراق العلمية من خلال القيام بعمليات (قبول، رفض، عرض المحتوى)</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الجلسات من خلال القيام بعمليات (إضافة، تعديل، حذف، عرض قائمة الجلسات)</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المتحدثين ضمن مؤتمر من خلال القيام بعمليات (إضافة، حذف، عرض قائمة المتحدثين).</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الشركات / رعاة المؤتمر من خلال القيام بعمليات (إضافة، تعديل، حذف، عرض قائمة الشركات /رعاة المؤتمر)</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إنشاء شهادات للمشاركين والحضور ضمن مؤتمر.</a:t>
            </a:r>
            <a:endParaRPr lang="en-US" sz="1200" kern="100" dirty="0">
              <a:effectLst/>
              <a:latin typeface="Calibri" panose="020F0502020204030204" pitchFamily="34" charset="0"/>
              <a:ea typeface="Calibri" panose="020F0502020204030204" pitchFamily="34" charset="0"/>
            </a:endParaRPr>
          </a:p>
        </p:txBody>
      </p:sp>
      <p:sp>
        <p:nvSpPr>
          <p:cNvPr id="7" name="مربع نص 6">
            <a:extLst>
              <a:ext uri="{FF2B5EF4-FFF2-40B4-BE49-F238E27FC236}">
                <a16:creationId xmlns:a16="http://schemas.microsoft.com/office/drawing/2014/main" id="{2081D085-6D33-4838-9345-0BA29F81F019}"/>
              </a:ext>
            </a:extLst>
          </p:cNvPr>
          <p:cNvSpPr txBox="1"/>
          <p:nvPr/>
        </p:nvSpPr>
        <p:spPr>
          <a:xfrm>
            <a:off x="76199" y="1962395"/>
            <a:ext cx="5438776" cy="4357603"/>
          </a:xfrm>
          <a:prstGeom prst="rect">
            <a:avLst/>
          </a:prstGeom>
          <a:noFill/>
        </p:spPr>
        <p:txBody>
          <a:bodyPr wrap="square">
            <a:spAutoFit/>
          </a:bodyPr>
          <a:lstStyle/>
          <a:p>
            <a:pPr marL="342900" lvl="0" indent="-342900" algn="justLow" rtl="1">
              <a:lnSpc>
                <a:spcPct val="150000"/>
              </a:lnSpc>
              <a:spcAft>
                <a:spcPts val="800"/>
              </a:spcAft>
              <a:buFont typeface="Symbol" panose="05050102010706020507" pitchFamily="18" charset="2"/>
              <a:buChar char=""/>
            </a:pPr>
            <a:r>
              <a:rPr lang="ar-SA" sz="1200" b="1" kern="100" dirty="0">
                <a:effectLst/>
                <a:latin typeface="Calibri" panose="020F0502020204030204" pitchFamily="34" charset="0"/>
                <a:ea typeface="Arial" panose="020B0604020202020204" pitchFamily="34" charset="0"/>
                <a:cs typeface="Simplified Arabic" panose="02020603050405020304" pitchFamily="18" charset="-78"/>
              </a:rPr>
              <a:t>المتطلبات الوظيفية الخاصة بمدير النظام:</a:t>
            </a:r>
            <a:endParaRPr lang="en-US" sz="120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تسجيل الدخول.</a:t>
            </a:r>
            <a:endParaRPr lang="en-US" sz="120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تعديل البيانات الشخصية.</a:t>
            </a:r>
            <a:endParaRPr lang="en-US" sz="1200" kern="100" dirty="0">
              <a:effectLst/>
              <a:latin typeface="Calibri" panose="020F0502020204030204" pitchFamily="34" charset="0"/>
              <a:ea typeface="Calibri" panose="020F0502020204030204" pitchFamily="34" charset="0"/>
            </a:endParaRPr>
          </a:p>
          <a:p>
            <a:pPr marL="742950" lvl="1" indent="-285750" algn="justLow"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عرض الملف الشخصي.</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حسابات المستخدمين</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طلبات المؤتمرات من خلال القيام بعمليات (موافقة، رفض، عرض قائمة الطلبات).</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حسابات المستخدمين من خلال القيام بعمليات (موافقة، رفض، تغيير حالة حساب، عرض قائمة المستخدمين).</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التصنيفات من خلال القيام بعمليات (إضافة، تعديل، حذف، عرض قائمة التصنيفات).</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عرض تقييمات مؤتمر</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إدارة إعدادات النظام</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عرض قائمة المؤتمرات</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عرض إحصائيات شاملة عن عمل المنصة</a:t>
            </a:r>
            <a:endParaRPr lang="en-US" sz="1200" kern="100" dirty="0">
              <a:effectLst/>
              <a:latin typeface="Calibri" panose="020F0502020204030204" pitchFamily="34" charset="0"/>
              <a:ea typeface="Calibri" panose="020F0502020204030204" pitchFamily="34" charset="0"/>
            </a:endParaRPr>
          </a:p>
          <a:p>
            <a:pPr marL="742950" lvl="1" indent="-285750" algn="just" rtl="1">
              <a:lnSpc>
                <a:spcPct val="150000"/>
              </a:lnSpc>
              <a:spcAft>
                <a:spcPts val="800"/>
              </a:spcAft>
              <a:buFont typeface="Courier New" panose="02070309020205020404" pitchFamily="49" charset="0"/>
              <a:buChar char="o"/>
            </a:pPr>
            <a:r>
              <a:rPr lang="ar-SA" sz="1200" kern="100" dirty="0">
                <a:effectLst/>
                <a:latin typeface="Calibri" panose="020F0502020204030204" pitchFamily="34" charset="0"/>
                <a:ea typeface="Arial" panose="020B0604020202020204" pitchFamily="34" charset="0"/>
                <a:cs typeface="Simplified Arabic" panose="02020603050405020304" pitchFamily="18" charset="-78"/>
              </a:rPr>
              <a:t>تصدير التقارير</a:t>
            </a:r>
            <a:endParaRPr lang="en-US" sz="1200" kern="100" dirty="0">
              <a:effectLst/>
              <a:latin typeface="Calibri" panose="020F0502020204030204" pitchFamily="34" charset="0"/>
              <a:ea typeface="Calibri" panose="020F0502020204030204" pitchFamily="34" charset="0"/>
            </a:endParaRPr>
          </a:p>
        </p:txBody>
      </p:sp>
    </p:spTree>
    <p:extLst>
      <p:ext uri="{BB962C8B-B14F-4D97-AF65-F5344CB8AC3E}">
        <p14:creationId xmlns:p14="http://schemas.microsoft.com/office/powerpoint/2010/main" val="36533346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جدول 3">
            <a:extLst>
              <a:ext uri="{FF2B5EF4-FFF2-40B4-BE49-F238E27FC236}">
                <a16:creationId xmlns:a16="http://schemas.microsoft.com/office/drawing/2014/main" id="{7E48042E-5B09-4696-9DDC-EB0C5F88E3AD}"/>
              </a:ext>
            </a:extLst>
          </p:cNvPr>
          <p:cNvGraphicFramePr>
            <a:graphicFrameLocks noGrp="1"/>
          </p:cNvGraphicFramePr>
          <p:nvPr>
            <p:extLst>
              <p:ext uri="{D42A27DB-BD31-4B8C-83A1-F6EECF244321}">
                <p14:modId xmlns:p14="http://schemas.microsoft.com/office/powerpoint/2010/main" val="1304798642"/>
              </p:ext>
            </p:extLst>
          </p:nvPr>
        </p:nvGraphicFramePr>
        <p:xfrm>
          <a:off x="1092555" y="1543050"/>
          <a:ext cx="10006888" cy="4743052"/>
        </p:xfrm>
        <a:graphic>
          <a:graphicData uri="http://schemas.openxmlformats.org/drawingml/2006/table">
            <a:tbl>
              <a:tblPr>
                <a:tableStyleId>{BC89EF96-8CEA-46FF-86C4-4CE0E7609802}</a:tableStyleId>
              </a:tblPr>
              <a:tblGrid>
                <a:gridCol w="942736">
                  <a:extLst>
                    <a:ext uri="{9D8B030D-6E8A-4147-A177-3AD203B41FA5}">
                      <a16:colId xmlns:a16="http://schemas.microsoft.com/office/drawing/2014/main" val="3156552041"/>
                    </a:ext>
                  </a:extLst>
                </a:gridCol>
                <a:gridCol w="2527184">
                  <a:extLst>
                    <a:ext uri="{9D8B030D-6E8A-4147-A177-3AD203B41FA5}">
                      <a16:colId xmlns:a16="http://schemas.microsoft.com/office/drawing/2014/main" val="815573581"/>
                    </a:ext>
                  </a:extLst>
                </a:gridCol>
                <a:gridCol w="3798073">
                  <a:extLst>
                    <a:ext uri="{9D8B030D-6E8A-4147-A177-3AD203B41FA5}">
                      <a16:colId xmlns:a16="http://schemas.microsoft.com/office/drawing/2014/main" val="1710741254"/>
                    </a:ext>
                  </a:extLst>
                </a:gridCol>
                <a:gridCol w="992353">
                  <a:extLst>
                    <a:ext uri="{9D8B030D-6E8A-4147-A177-3AD203B41FA5}">
                      <a16:colId xmlns:a16="http://schemas.microsoft.com/office/drawing/2014/main" val="3214434696"/>
                    </a:ext>
                  </a:extLst>
                </a:gridCol>
                <a:gridCol w="617009">
                  <a:extLst>
                    <a:ext uri="{9D8B030D-6E8A-4147-A177-3AD203B41FA5}">
                      <a16:colId xmlns:a16="http://schemas.microsoft.com/office/drawing/2014/main" val="1715148713"/>
                    </a:ext>
                  </a:extLst>
                </a:gridCol>
                <a:gridCol w="1129533">
                  <a:extLst>
                    <a:ext uri="{9D8B030D-6E8A-4147-A177-3AD203B41FA5}">
                      <a16:colId xmlns:a16="http://schemas.microsoft.com/office/drawing/2014/main" val="3500344783"/>
                    </a:ext>
                  </a:extLst>
                </a:gridCol>
              </a:tblGrid>
              <a:tr h="309037">
                <a:tc>
                  <a:txBody>
                    <a:bodyPr/>
                    <a:lstStyle/>
                    <a:p>
                      <a:pPr algn="ctr" rtl="0" fontAlgn="ctr"/>
                      <a:r>
                        <a:rPr lang="en-US" sz="1000" b="1" u="none" strike="noStrike" dirty="0">
                          <a:effectLst/>
                        </a:rPr>
                        <a:t>Id</a:t>
                      </a:r>
                      <a:endParaRPr lang="en-US" sz="1000" b="1" i="0" u="none" strike="noStrike" dirty="0">
                        <a:solidFill>
                          <a:srgbClr val="191970"/>
                        </a:solidFill>
                        <a:effectLst/>
                        <a:latin typeface="Arial" panose="020B0604020202020204" pitchFamily="34" charset="0"/>
                      </a:endParaRPr>
                    </a:p>
                  </a:txBody>
                  <a:tcPr marL="5842" marR="5842" marT="5842" marB="0" anchor="ctr"/>
                </a:tc>
                <a:tc>
                  <a:txBody>
                    <a:bodyPr/>
                    <a:lstStyle/>
                    <a:p>
                      <a:pPr algn="ctr" rtl="0" fontAlgn="ctr"/>
                      <a:r>
                        <a:rPr lang="en-US" sz="1000" b="1" u="none" strike="noStrike">
                          <a:effectLst/>
                        </a:rPr>
                        <a:t>Title</a:t>
                      </a:r>
                      <a:endParaRPr lang="en-US" sz="1000" b="1" i="0" u="none" strike="noStrike">
                        <a:solidFill>
                          <a:srgbClr val="191970"/>
                        </a:solidFill>
                        <a:effectLst/>
                        <a:latin typeface="Arial" panose="020B0604020202020204" pitchFamily="34" charset="0"/>
                      </a:endParaRPr>
                    </a:p>
                  </a:txBody>
                  <a:tcPr marL="5842" marR="5842" marT="5842" marB="0" anchor="ctr"/>
                </a:tc>
                <a:tc>
                  <a:txBody>
                    <a:bodyPr/>
                    <a:lstStyle/>
                    <a:p>
                      <a:pPr algn="ctr" rtl="0" fontAlgn="ctr"/>
                      <a:r>
                        <a:rPr lang="en-US" sz="1000" b="1" u="none" strike="noStrike" dirty="0">
                          <a:effectLst/>
                        </a:rPr>
                        <a:t>Description</a:t>
                      </a:r>
                      <a:endParaRPr lang="en-US" sz="1000" b="1" i="0" u="none" strike="noStrike" dirty="0">
                        <a:solidFill>
                          <a:srgbClr val="191970"/>
                        </a:solidFill>
                        <a:effectLst/>
                        <a:latin typeface="Arial" panose="020B0604020202020204" pitchFamily="34" charset="0"/>
                      </a:endParaRPr>
                    </a:p>
                  </a:txBody>
                  <a:tcPr marL="5842" marR="5842" marT="5842" marB="0" anchor="ctr"/>
                </a:tc>
                <a:tc>
                  <a:txBody>
                    <a:bodyPr/>
                    <a:lstStyle/>
                    <a:p>
                      <a:pPr algn="ctr" rtl="0" fontAlgn="ctr"/>
                      <a:r>
                        <a:rPr lang="en-US" sz="1000" b="1" u="none" strike="noStrike" dirty="0">
                          <a:effectLst/>
                        </a:rPr>
                        <a:t>Type</a:t>
                      </a:r>
                      <a:endParaRPr lang="en-US" sz="1000" b="1" i="0" u="none" strike="noStrike" dirty="0">
                        <a:solidFill>
                          <a:srgbClr val="191970"/>
                        </a:solidFill>
                        <a:effectLst/>
                        <a:latin typeface="Arial" panose="020B0604020202020204" pitchFamily="34" charset="0"/>
                      </a:endParaRPr>
                    </a:p>
                  </a:txBody>
                  <a:tcPr marL="5842" marR="5842" marT="5842" marB="0" anchor="ctr"/>
                </a:tc>
                <a:tc>
                  <a:txBody>
                    <a:bodyPr/>
                    <a:lstStyle/>
                    <a:p>
                      <a:pPr algn="ctr" rtl="0" fontAlgn="ctr"/>
                      <a:r>
                        <a:rPr lang="en-US" sz="1000" b="1" u="none" strike="noStrike" dirty="0">
                          <a:effectLst/>
                        </a:rPr>
                        <a:t>Priority</a:t>
                      </a:r>
                      <a:endParaRPr lang="en-US" sz="1000" b="1" i="0" u="none" strike="noStrike" dirty="0">
                        <a:solidFill>
                          <a:srgbClr val="191970"/>
                        </a:solidFill>
                        <a:effectLst/>
                        <a:latin typeface="Arial" panose="020B0604020202020204" pitchFamily="34" charset="0"/>
                      </a:endParaRPr>
                    </a:p>
                  </a:txBody>
                  <a:tcPr marL="5842" marR="5842" marT="5842" marB="0" anchor="ctr"/>
                </a:tc>
                <a:tc>
                  <a:txBody>
                    <a:bodyPr/>
                    <a:lstStyle/>
                    <a:p>
                      <a:pPr algn="ctr" rtl="0" fontAlgn="ctr"/>
                      <a:r>
                        <a:rPr lang="en-US" sz="1000" b="1" u="none" strike="noStrike" dirty="0">
                          <a:solidFill>
                            <a:schemeClr val="tx1"/>
                          </a:solidFill>
                          <a:effectLst/>
                        </a:rPr>
                        <a:t>Actor</a:t>
                      </a:r>
                      <a:endParaRPr lang="en-US" sz="1000" b="1" i="0" u="none" strike="noStrike" dirty="0">
                        <a:solidFill>
                          <a:schemeClr val="tx1"/>
                        </a:solidFill>
                        <a:effectLst/>
                        <a:latin typeface="Arial" panose="020B0604020202020204" pitchFamily="34" charset="0"/>
                      </a:endParaRPr>
                    </a:p>
                  </a:txBody>
                  <a:tcPr marL="5842" marR="5842" marT="5842" marB="0" anchor="ctr"/>
                </a:tc>
                <a:extLst>
                  <a:ext uri="{0D108BD9-81ED-4DB2-BD59-A6C34878D82A}">
                    <a16:rowId xmlns:a16="http://schemas.microsoft.com/office/drawing/2014/main" val="1232556453"/>
                  </a:ext>
                </a:extLst>
              </a:tr>
              <a:tr h="295601">
                <a:tc>
                  <a:txBody>
                    <a:bodyPr/>
                    <a:lstStyle/>
                    <a:p>
                      <a:pPr algn="ctr">
                        <a:lnSpc>
                          <a:spcPct val="107000"/>
                        </a:lnSpc>
                        <a:spcAft>
                          <a:spcPts val="800"/>
                        </a:spcAft>
                      </a:pPr>
                      <a:r>
                        <a:rPr lang="en-US" sz="1000" b="1" kern="0">
                          <a:solidFill>
                            <a:srgbClr val="191970"/>
                          </a:solidFill>
                          <a:effectLst/>
                        </a:rPr>
                        <a:t>REQ-001</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تسجيل الدخول</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تسجيل الدخول لكل مرتبة من المستخدمين وتوجيه كل مستخدم إلى الصفحات الخاصة به</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dirty="0">
                          <a:effectLst/>
                        </a:rPr>
                        <a:t>Functional</a:t>
                      </a:r>
                      <a:endParaRPr lang="en-US"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1</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2814446531"/>
                  </a:ext>
                </a:extLst>
              </a:tr>
              <a:tr h="295601">
                <a:tc>
                  <a:txBody>
                    <a:bodyPr/>
                    <a:lstStyle/>
                    <a:p>
                      <a:pPr algn="ctr">
                        <a:lnSpc>
                          <a:spcPct val="107000"/>
                        </a:lnSpc>
                        <a:spcAft>
                          <a:spcPts val="800"/>
                        </a:spcAft>
                      </a:pPr>
                      <a:r>
                        <a:rPr lang="en-US" sz="1000" b="1" kern="0">
                          <a:solidFill>
                            <a:srgbClr val="191970"/>
                          </a:solidFill>
                          <a:effectLst/>
                        </a:rPr>
                        <a:t>REQ-002</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تعديل الحساب الشخصي</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يكون للمستخدم القدرة على تعديل بياناته الشخصية مثل البريد الإلكتروني وكلمة المرور</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a:effectLst/>
                        </a:rPr>
                        <a:t>Functional</a:t>
                      </a:r>
                      <a:endParaRPr lang="en-US" sz="1000" b="0" i="0" u="none" strike="noStrike">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1</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4166432058"/>
                  </a:ext>
                </a:extLst>
              </a:tr>
              <a:tr h="295601">
                <a:tc>
                  <a:txBody>
                    <a:bodyPr/>
                    <a:lstStyle/>
                    <a:p>
                      <a:pPr algn="ctr">
                        <a:lnSpc>
                          <a:spcPct val="107000"/>
                        </a:lnSpc>
                        <a:spcAft>
                          <a:spcPts val="800"/>
                        </a:spcAft>
                      </a:pPr>
                      <a:r>
                        <a:rPr lang="en-US" sz="1000" b="1" kern="0">
                          <a:solidFill>
                            <a:srgbClr val="191970"/>
                          </a:solidFill>
                          <a:effectLst/>
                        </a:rPr>
                        <a:t>REQ-003</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عرض الحساب الشخصي</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عرض معلومات الحساب الشخصي للمستخدم</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a:effectLst/>
                        </a:rPr>
                        <a:t>Functional</a:t>
                      </a:r>
                      <a:endParaRPr lang="en-US" sz="1000" b="0" i="0" u="none" strike="noStrike">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1</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2178685624"/>
                  </a:ext>
                </a:extLst>
              </a:tr>
              <a:tr h="295601">
                <a:tc>
                  <a:txBody>
                    <a:bodyPr/>
                    <a:lstStyle/>
                    <a:p>
                      <a:pPr algn="ctr">
                        <a:lnSpc>
                          <a:spcPct val="107000"/>
                        </a:lnSpc>
                        <a:spcAft>
                          <a:spcPts val="800"/>
                        </a:spcAft>
                      </a:pPr>
                      <a:r>
                        <a:rPr lang="en-US" sz="1000" b="1" kern="0">
                          <a:solidFill>
                            <a:srgbClr val="191970"/>
                          </a:solidFill>
                          <a:effectLst/>
                        </a:rPr>
                        <a:t>REQ-004</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عرض قائمة المنظمات التطوعية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عرض قائمة المنظمات التطوعية المسجلة ضمن النظام</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dirty="0">
                          <a:effectLst/>
                        </a:rPr>
                        <a:t>Functional</a:t>
                      </a:r>
                      <a:endParaRPr lang="en-US"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1</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3760648446"/>
                  </a:ext>
                </a:extLst>
              </a:tr>
              <a:tr h="295601">
                <a:tc>
                  <a:txBody>
                    <a:bodyPr/>
                    <a:lstStyle/>
                    <a:p>
                      <a:pPr algn="ctr">
                        <a:lnSpc>
                          <a:spcPct val="107000"/>
                        </a:lnSpc>
                        <a:spcAft>
                          <a:spcPts val="800"/>
                        </a:spcAft>
                      </a:pPr>
                      <a:r>
                        <a:rPr lang="en-US" sz="1000" b="1" kern="0">
                          <a:solidFill>
                            <a:srgbClr val="191970"/>
                          </a:solidFill>
                          <a:effectLst/>
                        </a:rPr>
                        <a:t>REQ-005</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عرض قائمة المتطوعين</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عرض قائمة المتطوعين المسجلين في النظام</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dirty="0">
                          <a:effectLst/>
                        </a:rPr>
                        <a:t>Functional</a:t>
                      </a:r>
                      <a:endParaRPr lang="en-US"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effectLst/>
                        </a:rPr>
                        <a:t>2</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1717412316"/>
                  </a:ext>
                </a:extLst>
              </a:tr>
              <a:tr h="295601">
                <a:tc>
                  <a:txBody>
                    <a:bodyPr/>
                    <a:lstStyle/>
                    <a:p>
                      <a:pPr algn="ctr">
                        <a:lnSpc>
                          <a:spcPct val="107000"/>
                        </a:lnSpc>
                        <a:spcAft>
                          <a:spcPts val="800"/>
                        </a:spcAft>
                      </a:pPr>
                      <a:r>
                        <a:rPr lang="en-US" sz="1000" b="1" kern="0">
                          <a:solidFill>
                            <a:srgbClr val="191970"/>
                          </a:solidFill>
                          <a:effectLst/>
                        </a:rPr>
                        <a:t>REQ-006</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عرض قائمة المدن</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dirty="0">
                          <a:solidFill>
                            <a:srgbClr val="191970"/>
                          </a:solidFill>
                          <a:effectLst/>
                        </a:rPr>
                        <a:t>عرض قائمة المدن المدرجة ضمن النظام</a:t>
                      </a:r>
                      <a:endParaRPr lang="en-US" sz="1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a:effectLst/>
                        </a:rPr>
                        <a:t>Functional</a:t>
                      </a:r>
                      <a:endParaRPr lang="en-US" sz="1000" b="0" i="0" u="none" strike="noStrike">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effectLst/>
                        </a:rPr>
                        <a:t>2</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2610528368"/>
                  </a:ext>
                </a:extLst>
              </a:tr>
              <a:tr h="295601">
                <a:tc>
                  <a:txBody>
                    <a:bodyPr/>
                    <a:lstStyle/>
                    <a:p>
                      <a:pPr algn="ctr">
                        <a:lnSpc>
                          <a:spcPct val="107000"/>
                        </a:lnSpc>
                        <a:spcAft>
                          <a:spcPts val="800"/>
                        </a:spcAft>
                      </a:pPr>
                      <a:r>
                        <a:rPr lang="en-US" sz="1000" b="1" kern="0">
                          <a:solidFill>
                            <a:srgbClr val="191970"/>
                          </a:solidFill>
                          <a:effectLst/>
                        </a:rPr>
                        <a:t>REQ-007</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عرض قائمة المراكز التطوعية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dirty="0">
                          <a:solidFill>
                            <a:srgbClr val="191970"/>
                          </a:solidFill>
                          <a:effectLst/>
                        </a:rPr>
                        <a:t>عرض قائمة المراكز التطوعية التي تتبع لمنظمة ما</a:t>
                      </a:r>
                      <a:endParaRPr lang="en-US" sz="1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a:effectLst/>
                        </a:rPr>
                        <a:t>Functional</a:t>
                      </a:r>
                      <a:endParaRPr lang="en-US" sz="1000" b="0" i="0" u="none" strike="noStrike">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effectLst/>
                        </a:rPr>
                        <a:t>2</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1277498534"/>
                  </a:ext>
                </a:extLst>
              </a:tr>
              <a:tr h="295601">
                <a:tc>
                  <a:txBody>
                    <a:bodyPr/>
                    <a:lstStyle/>
                    <a:p>
                      <a:pPr algn="ctr">
                        <a:lnSpc>
                          <a:spcPct val="107000"/>
                        </a:lnSpc>
                        <a:spcAft>
                          <a:spcPts val="800"/>
                        </a:spcAft>
                      </a:pPr>
                      <a:r>
                        <a:rPr lang="en-US" sz="1000" b="1" kern="0">
                          <a:solidFill>
                            <a:srgbClr val="191970"/>
                          </a:solidFill>
                          <a:effectLst/>
                        </a:rPr>
                        <a:t>REQ-008</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عرض التقييمات</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عرض التقييمات المقدمة من قبل المواطنين</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a:effectLst/>
                        </a:rPr>
                        <a:t>Functional</a:t>
                      </a:r>
                      <a:endParaRPr lang="en-US" sz="1000" b="0" i="0" u="none" strike="noStrike">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2</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2487286418"/>
                  </a:ext>
                </a:extLst>
              </a:tr>
              <a:tr h="295601">
                <a:tc>
                  <a:txBody>
                    <a:bodyPr/>
                    <a:lstStyle/>
                    <a:p>
                      <a:pPr algn="ctr">
                        <a:lnSpc>
                          <a:spcPct val="107000"/>
                        </a:lnSpc>
                        <a:spcAft>
                          <a:spcPts val="800"/>
                        </a:spcAft>
                      </a:pPr>
                      <a:r>
                        <a:rPr lang="en-US" sz="1000" b="1" kern="0">
                          <a:solidFill>
                            <a:srgbClr val="191970"/>
                          </a:solidFill>
                          <a:effectLst/>
                        </a:rPr>
                        <a:t>REQ-009</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عرض قائمة المواطنين</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عرض قائمة المواطنين المسجلين في النظام</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a:effectLst/>
                        </a:rPr>
                        <a:t>Functional</a:t>
                      </a:r>
                      <a:endParaRPr lang="en-US" sz="1000" b="0" i="0" u="none" strike="noStrike">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3</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3789635006"/>
                  </a:ext>
                </a:extLst>
              </a:tr>
              <a:tr h="295601">
                <a:tc>
                  <a:txBody>
                    <a:bodyPr/>
                    <a:lstStyle/>
                    <a:p>
                      <a:pPr algn="ctr">
                        <a:lnSpc>
                          <a:spcPct val="107000"/>
                        </a:lnSpc>
                        <a:spcAft>
                          <a:spcPts val="800"/>
                        </a:spcAft>
                      </a:pPr>
                      <a:r>
                        <a:rPr lang="en-US" sz="1000" b="1" kern="0">
                          <a:solidFill>
                            <a:srgbClr val="191970"/>
                          </a:solidFill>
                          <a:effectLst/>
                        </a:rPr>
                        <a:t>REQ-010</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عرض الإحصائيات</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عرض إحصائيات شاملة عن العمليات ضمن النظام</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a:effectLst/>
                        </a:rPr>
                        <a:t>Functional</a:t>
                      </a:r>
                      <a:endParaRPr lang="en-US" sz="1000" b="0" i="0" u="none" strike="noStrike">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3</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907794542"/>
                  </a:ext>
                </a:extLst>
              </a:tr>
              <a:tr h="295601">
                <a:tc>
                  <a:txBody>
                    <a:bodyPr/>
                    <a:lstStyle/>
                    <a:p>
                      <a:pPr algn="ctr">
                        <a:lnSpc>
                          <a:spcPct val="107000"/>
                        </a:lnSpc>
                        <a:spcAft>
                          <a:spcPts val="800"/>
                        </a:spcAft>
                      </a:pPr>
                      <a:r>
                        <a:rPr lang="en-US" sz="1000" b="1" kern="0">
                          <a:solidFill>
                            <a:srgbClr val="191970"/>
                          </a:solidFill>
                          <a:effectLst/>
                        </a:rPr>
                        <a:t>REQ-011</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dirty="0">
                          <a:solidFill>
                            <a:srgbClr val="191970"/>
                          </a:solidFill>
                          <a:effectLst/>
                        </a:rPr>
                        <a:t>عرض قائمة الفرص التطوعية</a:t>
                      </a:r>
                      <a:endParaRPr lang="en-US" sz="100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100">
                          <a:solidFill>
                            <a:srgbClr val="191970"/>
                          </a:solidFill>
                          <a:effectLst/>
                        </a:rPr>
                        <a:t>عرض قائمة الفرص التطوعية المتاحة من قبل المنظمات التطوعية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a:effectLst/>
                        </a:rPr>
                        <a:t>Functional</a:t>
                      </a:r>
                      <a:endParaRPr lang="en-US" sz="1000" b="0" i="0" u="none" strike="noStrike">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3</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4079527727"/>
                  </a:ext>
                </a:extLst>
              </a:tr>
              <a:tr h="295601">
                <a:tc>
                  <a:txBody>
                    <a:bodyPr/>
                    <a:lstStyle/>
                    <a:p>
                      <a:pPr algn="ctr">
                        <a:lnSpc>
                          <a:spcPct val="107000"/>
                        </a:lnSpc>
                        <a:spcAft>
                          <a:spcPts val="800"/>
                        </a:spcAft>
                      </a:pPr>
                      <a:r>
                        <a:rPr lang="en-US" sz="1000" b="1" kern="0">
                          <a:solidFill>
                            <a:srgbClr val="191970"/>
                          </a:solidFill>
                          <a:effectLst/>
                        </a:rPr>
                        <a:t>REQ-012</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تصدير التقارير</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تصدير تقارير عن عمل النظام</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dirty="0">
                          <a:effectLst/>
                        </a:rPr>
                        <a:t>Functional</a:t>
                      </a:r>
                      <a:endParaRPr lang="en-US"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3</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2494639857"/>
                  </a:ext>
                </a:extLst>
              </a:tr>
              <a:tr h="295601">
                <a:tc>
                  <a:txBody>
                    <a:bodyPr/>
                    <a:lstStyle/>
                    <a:p>
                      <a:pPr algn="ctr">
                        <a:lnSpc>
                          <a:spcPct val="107000"/>
                        </a:lnSpc>
                        <a:spcAft>
                          <a:spcPts val="800"/>
                        </a:spcAft>
                      </a:pPr>
                      <a:r>
                        <a:rPr lang="en-US" sz="1000" b="1" kern="0">
                          <a:solidFill>
                            <a:srgbClr val="191970"/>
                          </a:solidFill>
                          <a:effectLst/>
                        </a:rPr>
                        <a:t>REQ-013</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إدارة حسابات مدراء المنظمات التطوعية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إدارة حسابات مدراء المنظمات التطوعية المسجلين في النظام (موافقة، رفض، إلغاء تفعيل)</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dirty="0">
                          <a:effectLst/>
                        </a:rPr>
                        <a:t>Functional</a:t>
                      </a:r>
                      <a:endParaRPr lang="en-US"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effectLst/>
                        </a:rPr>
                        <a:t>4</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1441985685"/>
                  </a:ext>
                </a:extLst>
              </a:tr>
              <a:tr h="295601">
                <a:tc>
                  <a:txBody>
                    <a:bodyPr/>
                    <a:lstStyle/>
                    <a:p>
                      <a:pPr algn="ctr">
                        <a:lnSpc>
                          <a:spcPct val="107000"/>
                        </a:lnSpc>
                        <a:spcAft>
                          <a:spcPts val="800"/>
                        </a:spcAft>
                      </a:pPr>
                      <a:r>
                        <a:rPr lang="en-US" sz="1000" b="1" kern="0">
                          <a:solidFill>
                            <a:srgbClr val="191970"/>
                          </a:solidFill>
                          <a:effectLst/>
                        </a:rPr>
                        <a:t>REQ-014</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إدارة حسابات المتطوعين</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إدارة حسابات المتطوعين المسجلين في النظام (موافقة، رفض، إلغاء تفعيل)</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dirty="0">
                          <a:effectLst/>
                        </a:rPr>
                        <a:t>Functional</a:t>
                      </a:r>
                      <a:endParaRPr lang="en-US"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solidFill>
                            <a:srgbClr val="191970"/>
                          </a:solidFill>
                          <a:effectLst/>
                        </a:rPr>
                        <a:t>4</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572819545"/>
                  </a:ext>
                </a:extLst>
              </a:tr>
              <a:tr h="295601">
                <a:tc>
                  <a:txBody>
                    <a:bodyPr/>
                    <a:lstStyle/>
                    <a:p>
                      <a:pPr algn="ctr">
                        <a:lnSpc>
                          <a:spcPct val="107000"/>
                        </a:lnSpc>
                        <a:spcAft>
                          <a:spcPts val="800"/>
                        </a:spcAft>
                      </a:pPr>
                      <a:r>
                        <a:rPr lang="en-US" sz="1000" b="1" kern="0">
                          <a:solidFill>
                            <a:srgbClr val="191970"/>
                          </a:solidFill>
                          <a:effectLst/>
                        </a:rPr>
                        <a:t>REQ-015</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AE" sz="1000" b="1" kern="0">
                          <a:solidFill>
                            <a:srgbClr val="191970"/>
                          </a:solidFill>
                          <a:effectLst/>
                        </a:rPr>
                        <a:t>إنشاء حسابات للمستخدمين</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00" b="1" kern="100">
                          <a:solidFill>
                            <a:srgbClr val="191970"/>
                          </a:solidFill>
                          <a:effectLst/>
                        </a:rPr>
                        <a:t>إنشاء حسابات جديدة للمستخدمين اللذين يرغبون باستخدام النظام</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fontAlgn="t"/>
                      <a:r>
                        <a:rPr lang="en-US" sz="1000" u="none" strike="noStrike" dirty="0">
                          <a:effectLst/>
                        </a:rPr>
                        <a:t>Functional</a:t>
                      </a:r>
                      <a:endParaRPr lang="en-US"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ar-AE" sz="1000" b="0" u="none" strike="noStrike" dirty="0">
                          <a:solidFill>
                            <a:srgbClr val="191970"/>
                          </a:solidFill>
                          <a:effectLst/>
                        </a:rPr>
                        <a:t>4</a:t>
                      </a:r>
                      <a:endParaRPr lang="ar-AE" sz="1000" b="0" i="0" u="none" strike="noStrike" dirty="0">
                        <a:solidFill>
                          <a:srgbClr val="191970"/>
                        </a:solidFill>
                        <a:effectLst/>
                        <a:latin typeface="Arial" panose="020B0604020202020204" pitchFamily="34" charset="0"/>
                        <a:cs typeface="+mn-cs"/>
                      </a:endParaRPr>
                    </a:p>
                  </a:txBody>
                  <a:tcPr marL="5842" marR="5842" marT="5842" marB="0"/>
                </a:tc>
                <a:tc>
                  <a:txBody>
                    <a:bodyPr/>
                    <a:lstStyle/>
                    <a:p>
                      <a:pPr algn="ctr" rtl="0" fontAlgn="t"/>
                      <a:r>
                        <a:rPr lang="en-US" sz="1000" b="0" u="none" strike="noStrike" dirty="0">
                          <a:solidFill>
                            <a:schemeClr val="tx1"/>
                          </a:solidFill>
                          <a:effectLst/>
                        </a:rPr>
                        <a:t>Admin</a:t>
                      </a:r>
                      <a:endParaRPr lang="ar-AE" sz="1000" b="0" i="0" u="none" strike="noStrike" dirty="0">
                        <a:solidFill>
                          <a:schemeClr val="tx1"/>
                        </a:solidFill>
                        <a:effectLst/>
                        <a:latin typeface="Arial" panose="020B0604020202020204" pitchFamily="34" charset="0"/>
                      </a:endParaRPr>
                    </a:p>
                  </a:txBody>
                  <a:tcPr marL="5842" marR="5842" marT="5842" marB="0"/>
                </a:tc>
                <a:extLst>
                  <a:ext uri="{0D108BD9-81ED-4DB2-BD59-A6C34878D82A}">
                    <a16:rowId xmlns:a16="http://schemas.microsoft.com/office/drawing/2014/main" val="2450491501"/>
                  </a:ext>
                </a:extLst>
              </a:tr>
            </a:tbl>
          </a:graphicData>
        </a:graphic>
      </p:graphicFrame>
      <p:sp>
        <p:nvSpPr>
          <p:cNvPr id="5" name="عنوان 1">
            <a:extLst>
              <a:ext uri="{FF2B5EF4-FFF2-40B4-BE49-F238E27FC236}">
                <a16:creationId xmlns:a16="http://schemas.microsoft.com/office/drawing/2014/main" id="{9BDF1D1A-65B9-4A2C-B9DD-66B20F50BD23}"/>
              </a:ext>
            </a:extLst>
          </p:cNvPr>
          <p:cNvSpPr txBox="1">
            <a:spLocks/>
          </p:cNvSpPr>
          <p:nvPr/>
        </p:nvSpPr>
        <p:spPr>
          <a:xfrm>
            <a:off x="2987139" y="263945"/>
            <a:ext cx="6217720" cy="667289"/>
          </a:xfrm>
          <a:prstGeom prst="bracketPair">
            <a:avLst/>
          </a:prstGeom>
        </p:spPr>
        <p:style>
          <a:lnRef idx="2">
            <a:schemeClr val="accent1"/>
          </a:lnRef>
          <a:fillRef idx="1">
            <a:schemeClr val="lt1"/>
          </a:fillRef>
          <a:effectRef idx="0">
            <a:schemeClr val="accent1"/>
          </a:effectRef>
          <a:fontRef idx="minor">
            <a:schemeClr val="dk1"/>
          </a:fontRef>
        </p:style>
        <p:txBody>
          <a:bodyPr>
            <a:normAutofit/>
          </a:bodyPr>
          <a:lstStyle>
            <a:lvl1pPr algn="l" defTabSz="457200" rtl="1" eaLnBrk="1" latinLnBrk="0" hangingPunct="1">
              <a:spcBef>
                <a:spcPct val="0"/>
              </a:spcBef>
              <a:buNone/>
              <a:defRPr sz="2800" b="0" kern="1200" cap="all">
                <a:solidFill>
                  <a:schemeClr val="dk1"/>
                </a:solidFill>
                <a:latin typeface="+mn-lt"/>
                <a:ea typeface="+mn-ea"/>
                <a:cs typeface="+mn-cs"/>
              </a:defRPr>
            </a:lvl1pPr>
            <a:lvl2pPr rtl="1" eaLnBrk="1" hangingPunct="1">
              <a:defRPr>
                <a:solidFill>
                  <a:schemeClr val="dk1"/>
                </a:solidFill>
                <a:latin typeface="+mn-lt"/>
                <a:ea typeface="+mn-ea"/>
                <a:cs typeface="+mn-cs"/>
              </a:defRPr>
            </a:lvl2pPr>
            <a:lvl3pPr rtl="1" eaLnBrk="1" hangingPunct="1">
              <a:defRPr>
                <a:solidFill>
                  <a:schemeClr val="dk1"/>
                </a:solidFill>
                <a:latin typeface="+mn-lt"/>
                <a:ea typeface="+mn-ea"/>
                <a:cs typeface="+mn-cs"/>
              </a:defRPr>
            </a:lvl3pPr>
            <a:lvl4pPr rtl="1" eaLnBrk="1" hangingPunct="1">
              <a:defRPr>
                <a:solidFill>
                  <a:schemeClr val="dk1"/>
                </a:solidFill>
                <a:latin typeface="+mn-lt"/>
                <a:ea typeface="+mn-ea"/>
                <a:cs typeface="+mn-cs"/>
              </a:defRPr>
            </a:lvl4pPr>
            <a:lvl5pPr rtl="1" eaLnBrk="1" hangingPunct="1">
              <a:defRPr>
                <a:solidFill>
                  <a:schemeClr val="dk1"/>
                </a:solidFill>
                <a:latin typeface="+mn-lt"/>
                <a:ea typeface="+mn-ea"/>
                <a:cs typeface="+mn-cs"/>
              </a:defRPr>
            </a:lvl5pPr>
            <a:lvl6pPr rtl="1" eaLnBrk="1" hangingPunct="1">
              <a:defRPr>
                <a:solidFill>
                  <a:schemeClr val="dk1"/>
                </a:solidFill>
                <a:latin typeface="+mn-lt"/>
                <a:ea typeface="+mn-ea"/>
                <a:cs typeface="+mn-cs"/>
              </a:defRPr>
            </a:lvl6pPr>
            <a:lvl7pPr rtl="1" eaLnBrk="1" hangingPunct="1">
              <a:defRPr>
                <a:solidFill>
                  <a:schemeClr val="dk1"/>
                </a:solidFill>
                <a:latin typeface="+mn-lt"/>
                <a:ea typeface="+mn-ea"/>
                <a:cs typeface="+mn-cs"/>
              </a:defRPr>
            </a:lvl7pPr>
            <a:lvl8pPr rtl="1" eaLnBrk="1" hangingPunct="1">
              <a:defRPr>
                <a:solidFill>
                  <a:schemeClr val="dk1"/>
                </a:solidFill>
                <a:latin typeface="+mn-lt"/>
                <a:ea typeface="+mn-ea"/>
                <a:cs typeface="+mn-cs"/>
              </a:defRPr>
            </a:lvl8pPr>
            <a:lvl9pPr rtl="1" eaLnBrk="1" hangingPunct="1">
              <a:defRPr>
                <a:solidFill>
                  <a:schemeClr val="dk1"/>
                </a:solidFill>
                <a:latin typeface="+mn-lt"/>
                <a:ea typeface="+mn-ea"/>
                <a:cs typeface="+mn-cs"/>
              </a:defRPr>
            </a:lvl9pPr>
          </a:lstStyle>
          <a:p>
            <a:pPr algn="ctr"/>
            <a:r>
              <a:rPr lang="ar-AE"/>
              <a:t>المتطلبات الوظيفية للمشروع الفصلي</a:t>
            </a:r>
            <a:endParaRPr lang="ar-AE" dirty="0"/>
          </a:p>
        </p:txBody>
      </p:sp>
    </p:spTree>
    <p:extLst>
      <p:ext uri="{BB962C8B-B14F-4D97-AF65-F5344CB8AC3E}">
        <p14:creationId xmlns:p14="http://schemas.microsoft.com/office/powerpoint/2010/main" val="191257713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8F15D-2327-9240-354A-110199CA468E}"/>
            </a:ext>
          </a:extLst>
        </p:cNvPr>
        <p:cNvGrpSpPr/>
        <p:nvPr/>
      </p:nvGrpSpPr>
      <p:grpSpPr>
        <a:xfrm>
          <a:off x="0" y="0"/>
          <a:ext cx="0" cy="0"/>
          <a:chOff x="0" y="0"/>
          <a:chExt cx="0" cy="0"/>
        </a:xfrm>
      </p:grpSpPr>
      <p:sp>
        <p:nvSpPr>
          <p:cNvPr id="10" name="عنوان 1">
            <a:extLst>
              <a:ext uri="{FF2B5EF4-FFF2-40B4-BE49-F238E27FC236}">
                <a16:creationId xmlns:a16="http://schemas.microsoft.com/office/drawing/2014/main" id="{14562964-A212-8EA6-1607-B7BC7EF2839B}"/>
              </a:ext>
            </a:extLst>
          </p:cNvPr>
          <p:cNvSpPr>
            <a:spLocks noGrp="1"/>
          </p:cNvSpPr>
          <p:nvPr>
            <p:ph type="title"/>
          </p:nvPr>
        </p:nvSpPr>
        <p:spPr>
          <a:xfrm>
            <a:off x="3904633" y="638732"/>
            <a:ext cx="4382729" cy="580103"/>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منهجية المشروع</a:t>
            </a:r>
          </a:p>
        </p:txBody>
      </p:sp>
      <p:pic>
        <p:nvPicPr>
          <p:cNvPr id="4" name="Picture 3">
            <a:extLst>
              <a:ext uri="{FF2B5EF4-FFF2-40B4-BE49-F238E27FC236}">
                <a16:creationId xmlns:a16="http://schemas.microsoft.com/office/drawing/2014/main" id="{A8005BF6-3F61-AEE7-E169-E1AA376F180C}"/>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3204497" y="1992934"/>
            <a:ext cx="5783002" cy="4865066"/>
          </a:xfrm>
          <a:prstGeom prst="rect">
            <a:avLst/>
          </a:prstGeom>
        </p:spPr>
      </p:pic>
      <p:sp>
        <p:nvSpPr>
          <p:cNvPr id="2" name="عنوان 1">
            <a:extLst>
              <a:ext uri="{FF2B5EF4-FFF2-40B4-BE49-F238E27FC236}">
                <a16:creationId xmlns:a16="http://schemas.microsoft.com/office/drawing/2014/main" id="{75496F01-7C88-8797-24D0-E2F700F0A181}"/>
              </a:ext>
            </a:extLst>
          </p:cNvPr>
          <p:cNvSpPr txBox="1">
            <a:spLocks/>
          </p:cNvSpPr>
          <p:nvPr/>
        </p:nvSpPr>
        <p:spPr>
          <a:xfrm>
            <a:off x="4047816" y="1218835"/>
            <a:ext cx="4096362" cy="436614"/>
          </a:xfrm>
          <a:prstGeom prst="bracketPair">
            <a:avLst/>
          </a:prstGeom>
        </p:spPr>
        <p:style>
          <a:lnRef idx="2">
            <a:schemeClr val="accent1"/>
          </a:lnRef>
          <a:fillRef idx="1">
            <a:schemeClr val="lt1"/>
          </a:fillRef>
          <a:effectRef idx="0">
            <a:schemeClr val="accent1"/>
          </a:effectRef>
          <a:fontRef idx="minor">
            <a:schemeClr val="dk1"/>
          </a:fontRef>
        </p:style>
        <p:txBody>
          <a:bodyPr vert="horz" lIns="91440" tIns="45720" rIns="91440" bIns="45720" rtlCol="1" anchor="ctr">
            <a:normAutofit fontScale="52500" lnSpcReduction="20000"/>
          </a:bodyPr>
          <a:lstStyle>
            <a:lvl1pPr algn="r" defTabSz="914400" rtl="1" eaLnBrk="1" latinLnBrk="0" hangingPunct="1">
              <a:lnSpc>
                <a:spcPct val="90000"/>
              </a:lnSpc>
              <a:spcBef>
                <a:spcPct val="0"/>
              </a:spcBef>
              <a:buNone/>
              <a:defRPr sz="4400" kern="1200">
                <a:solidFill>
                  <a:schemeClr val="dk1"/>
                </a:solidFill>
                <a:latin typeface="+mn-lt"/>
                <a:ea typeface="+mn-ea"/>
                <a:cs typeface="+mn-cs"/>
              </a:defRPr>
            </a:lvl1pPr>
            <a:lvl2pPr>
              <a:defRPr>
                <a:solidFill>
                  <a:schemeClr val="dk1"/>
                </a:solidFill>
                <a:latin typeface="+mn-lt"/>
                <a:ea typeface="+mn-ea"/>
                <a:cs typeface="+mn-cs"/>
              </a:defRPr>
            </a:lvl2pPr>
            <a:lvl3pPr>
              <a:defRPr>
                <a:solidFill>
                  <a:schemeClr val="dk1"/>
                </a:solidFill>
                <a:latin typeface="+mn-lt"/>
                <a:ea typeface="+mn-ea"/>
                <a:cs typeface="+mn-cs"/>
              </a:defRPr>
            </a:lvl3pPr>
            <a:lvl4pPr>
              <a:defRPr>
                <a:solidFill>
                  <a:schemeClr val="dk1"/>
                </a:solidFill>
                <a:latin typeface="+mn-lt"/>
                <a:ea typeface="+mn-ea"/>
                <a:cs typeface="+mn-cs"/>
              </a:defRPr>
            </a:lvl4pPr>
            <a:lvl5pPr>
              <a:defRPr>
                <a:solidFill>
                  <a:schemeClr val="dk1"/>
                </a:solidFill>
                <a:latin typeface="+mn-lt"/>
                <a:ea typeface="+mn-ea"/>
                <a:cs typeface="+mn-cs"/>
              </a:defRPr>
            </a:lvl5pPr>
            <a:lvl6pPr>
              <a:defRPr>
                <a:solidFill>
                  <a:schemeClr val="dk1"/>
                </a:solidFill>
                <a:latin typeface="+mn-lt"/>
                <a:ea typeface="+mn-ea"/>
                <a:cs typeface="+mn-cs"/>
              </a:defRPr>
            </a:lvl6pPr>
            <a:lvl7pPr>
              <a:defRPr>
                <a:solidFill>
                  <a:schemeClr val="dk1"/>
                </a:solidFill>
                <a:latin typeface="+mn-lt"/>
                <a:ea typeface="+mn-ea"/>
                <a:cs typeface="+mn-cs"/>
              </a:defRPr>
            </a:lvl7pPr>
            <a:lvl8pPr>
              <a:defRPr>
                <a:solidFill>
                  <a:schemeClr val="dk1"/>
                </a:solidFill>
                <a:latin typeface="+mn-lt"/>
                <a:ea typeface="+mn-ea"/>
                <a:cs typeface="+mn-cs"/>
              </a:defRPr>
            </a:lvl8pPr>
            <a:lvl9pPr>
              <a:defRPr>
                <a:solidFill>
                  <a:schemeClr val="dk1"/>
                </a:solidFill>
                <a:latin typeface="+mn-lt"/>
                <a:ea typeface="+mn-ea"/>
                <a:cs typeface="+mn-cs"/>
              </a:defRPr>
            </a:lvl9pPr>
          </a:lstStyle>
          <a:p>
            <a:pPr algn="ctr"/>
            <a:r>
              <a:rPr lang="ar-AE" dirty="0"/>
              <a:t>المنهجية التكرارية </a:t>
            </a:r>
            <a:r>
              <a:rPr lang="ar-AE" dirty="0" err="1"/>
              <a:t>التزايدية</a:t>
            </a:r>
            <a:endParaRPr lang="ar-AE" dirty="0"/>
          </a:p>
        </p:txBody>
      </p:sp>
    </p:spTree>
    <p:extLst>
      <p:ext uri="{BB962C8B-B14F-4D97-AF65-F5344CB8AC3E}">
        <p14:creationId xmlns:p14="http://schemas.microsoft.com/office/powerpoint/2010/main" val="124020199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140D8-1F9B-1FBD-A99F-5F141309EA78}"/>
            </a:ext>
          </a:extLst>
        </p:cNvPr>
        <p:cNvGrpSpPr/>
        <p:nvPr/>
      </p:nvGrpSpPr>
      <p:grpSpPr>
        <a:xfrm>
          <a:off x="0" y="0"/>
          <a:ext cx="0" cy="0"/>
          <a:chOff x="0" y="0"/>
          <a:chExt cx="0" cy="0"/>
        </a:xfrm>
      </p:grpSpPr>
      <p:graphicFrame>
        <p:nvGraphicFramePr>
          <p:cNvPr id="4" name="مخطط 3">
            <a:extLst>
              <a:ext uri="{FF2B5EF4-FFF2-40B4-BE49-F238E27FC236}">
                <a16:creationId xmlns:a16="http://schemas.microsoft.com/office/drawing/2014/main" id="{E061043D-E55B-7FDA-3816-CD81CAD57BEA}"/>
              </a:ext>
            </a:extLst>
          </p:cNvPr>
          <p:cNvGraphicFramePr/>
          <p:nvPr>
            <p:extLst>
              <p:ext uri="{D42A27DB-BD31-4B8C-83A1-F6EECF244321}">
                <p14:modId xmlns:p14="http://schemas.microsoft.com/office/powerpoint/2010/main" val="1023605801"/>
              </p:ext>
            </p:extLst>
          </p:nvPr>
        </p:nvGraphicFramePr>
        <p:xfrm>
          <a:off x="2771775" y="2136139"/>
          <a:ext cx="6562725" cy="4159885"/>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385213983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A5A7F-B3EE-E189-B7E1-C9E6E977FF00}"/>
            </a:ext>
          </a:extLst>
        </p:cNvPr>
        <p:cNvGrpSpPr/>
        <p:nvPr/>
      </p:nvGrpSpPr>
      <p:grpSpPr>
        <a:xfrm>
          <a:off x="0" y="0"/>
          <a:ext cx="0" cy="0"/>
          <a:chOff x="0" y="0"/>
          <a:chExt cx="0" cy="0"/>
        </a:xfrm>
      </p:grpSpPr>
      <p:sp>
        <p:nvSpPr>
          <p:cNvPr id="10" name="عنوان 1">
            <a:extLst>
              <a:ext uri="{FF2B5EF4-FFF2-40B4-BE49-F238E27FC236}">
                <a16:creationId xmlns:a16="http://schemas.microsoft.com/office/drawing/2014/main" id="{7035134A-C8B4-4AEB-3928-552DE7D96067}"/>
              </a:ext>
            </a:extLst>
          </p:cNvPr>
          <p:cNvSpPr>
            <a:spLocks noGrp="1"/>
          </p:cNvSpPr>
          <p:nvPr>
            <p:ph type="title"/>
          </p:nvPr>
        </p:nvSpPr>
        <p:spPr>
          <a:xfrm>
            <a:off x="3904634" y="811111"/>
            <a:ext cx="4382729" cy="73589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معمارية المشروع</a:t>
            </a:r>
          </a:p>
        </p:txBody>
      </p:sp>
      <p:pic>
        <p:nvPicPr>
          <p:cNvPr id="6" name="صورة 5">
            <a:extLst>
              <a:ext uri="{FF2B5EF4-FFF2-40B4-BE49-F238E27FC236}">
                <a16:creationId xmlns:a16="http://schemas.microsoft.com/office/drawing/2014/main" id="{49A26A9E-5DBC-454C-A479-5D2A1D654C00}"/>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593782" y="3429000"/>
            <a:ext cx="5004435" cy="2024380"/>
          </a:xfrm>
          <a:prstGeom prst="rect">
            <a:avLst/>
          </a:prstGeom>
          <a:noFill/>
          <a:ln>
            <a:noFill/>
          </a:ln>
        </p:spPr>
      </p:pic>
    </p:spTree>
    <p:extLst>
      <p:ext uri="{BB962C8B-B14F-4D97-AF65-F5344CB8AC3E}">
        <p14:creationId xmlns:p14="http://schemas.microsoft.com/office/powerpoint/2010/main" val="331656161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D3D5F9-4682-4524-16E9-49A3B5F6CFE9}"/>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AD70B57E-F4F5-1C83-EC92-F29A0A671CCE}"/>
              </a:ext>
            </a:extLst>
          </p:cNvPr>
          <p:cNvSpPr>
            <a:spLocks noGrp="1"/>
          </p:cNvSpPr>
          <p:nvPr>
            <p:ph type="title"/>
          </p:nvPr>
        </p:nvSpPr>
        <p:spPr>
          <a:xfrm>
            <a:off x="3904636" y="857249"/>
            <a:ext cx="3836978" cy="844345"/>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أدوات المشروع</a:t>
            </a:r>
          </a:p>
        </p:txBody>
      </p:sp>
      <p:pic>
        <p:nvPicPr>
          <p:cNvPr id="14" name="صورة 13">
            <a:extLst>
              <a:ext uri="{FF2B5EF4-FFF2-40B4-BE49-F238E27FC236}">
                <a16:creationId xmlns:a16="http://schemas.microsoft.com/office/drawing/2014/main" id="{4A250EA5-4292-40CD-A966-B3B870C51AC3}"/>
              </a:ext>
            </a:extLst>
          </p:cNvPr>
          <p:cNvPicPr>
            <a:picLocks noChangeAspect="1"/>
          </p:cNvPicPr>
          <p:nvPr/>
        </p:nvPicPr>
        <p:blipFill>
          <a:blip r:embed="rId2"/>
          <a:srcRect/>
          <a:stretch/>
        </p:blipFill>
        <p:spPr>
          <a:xfrm>
            <a:off x="0" y="3561025"/>
            <a:ext cx="3403736" cy="1906093"/>
          </a:xfrm>
          <a:prstGeom prst="rect">
            <a:avLst/>
          </a:prstGeom>
        </p:spPr>
      </p:pic>
      <p:pic>
        <p:nvPicPr>
          <p:cNvPr id="25" name="صورة 24">
            <a:extLst>
              <a:ext uri="{FF2B5EF4-FFF2-40B4-BE49-F238E27FC236}">
                <a16:creationId xmlns:a16="http://schemas.microsoft.com/office/drawing/2014/main" id="{F2CB23AC-5FA7-426E-9227-B2AA8657351E}"/>
              </a:ext>
            </a:extLst>
          </p:cNvPr>
          <p:cNvPicPr>
            <a:picLocks noChangeAspect="1"/>
          </p:cNvPicPr>
          <p:nvPr/>
        </p:nvPicPr>
        <p:blipFill>
          <a:blip r:embed="rId3"/>
          <a:srcRect/>
          <a:stretch/>
        </p:blipFill>
        <p:spPr>
          <a:xfrm>
            <a:off x="4209278" y="1909980"/>
            <a:ext cx="3403736" cy="1906093"/>
          </a:xfrm>
          <a:prstGeom prst="rect">
            <a:avLst/>
          </a:prstGeom>
        </p:spPr>
      </p:pic>
      <p:pic>
        <p:nvPicPr>
          <p:cNvPr id="26" name="صورة 25">
            <a:extLst>
              <a:ext uri="{FF2B5EF4-FFF2-40B4-BE49-F238E27FC236}">
                <a16:creationId xmlns:a16="http://schemas.microsoft.com/office/drawing/2014/main" id="{1AA10CDA-7DF3-4D84-A4AB-F1B5EC47F754}"/>
              </a:ext>
            </a:extLst>
          </p:cNvPr>
          <p:cNvPicPr>
            <a:picLocks noChangeAspect="1"/>
          </p:cNvPicPr>
          <p:nvPr/>
        </p:nvPicPr>
        <p:blipFill>
          <a:blip r:embed="rId4"/>
          <a:srcRect/>
          <a:stretch/>
        </p:blipFill>
        <p:spPr>
          <a:xfrm>
            <a:off x="4209278" y="5215639"/>
            <a:ext cx="3403736" cy="1308754"/>
          </a:xfrm>
          <a:prstGeom prst="rect">
            <a:avLst/>
          </a:prstGeom>
        </p:spPr>
      </p:pic>
      <p:pic>
        <p:nvPicPr>
          <p:cNvPr id="27" name="صورة 26">
            <a:extLst>
              <a:ext uri="{FF2B5EF4-FFF2-40B4-BE49-F238E27FC236}">
                <a16:creationId xmlns:a16="http://schemas.microsoft.com/office/drawing/2014/main" id="{155B8A6C-F0E7-4C6B-8B65-2F6FB4A0714F}"/>
              </a:ext>
            </a:extLst>
          </p:cNvPr>
          <p:cNvPicPr>
            <a:picLocks noChangeAspect="1"/>
          </p:cNvPicPr>
          <p:nvPr/>
        </p:nvPicPr>
        <p:blipFill>
          <a:blip r:embed="rId5"/>
          <a:stretch>
            <a:fillRect/>
          </a:stretch>
        </p:blipFill>
        <p:spPr>
          <a:xfrm>
            <a:off x="9534525" y="3561025"/>
            <a:ext cx="2050502" cy="1654614"/>
          </a:xfrm>
          <a:prstGeom prst="rect">
            <a:avLst/>
          </a:prstGeom>
        </p:spPr>
      </p:pic>
    </p:spTree>
    <p:extLst>
      <p:ext uri="{BB962C8B-B14F-4D97-AF65-F5344CB8AC3E}">
        <p14:creationId xmlns:p14="http://schemas.microsoft.com/office/powerpoint/2010/main" val="29193350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عنوان 1">
            <a:extLst>
              <a:ext uri="{FF2B5EF4-FFF2-40B4-BE49-F238E27FC236}">
                <a16:creationId xmlns:a16="http://schemas.microsoft.com/office/drawing/2014/main" id="{A05CEB4E-3E22-4190-A400-84A9401BC563}"/>
              </a:ext>
            </a:extLst>
          </p:cNvPr>
          <p:cNvSpPr txBox="1">
            <a:spLocks/>
          </p:cNvSpPr>
          <p:nvPr/>
        </p:nvSpPr>
        <p:spPr>
          <a:xfrm>
            <a:off x="1630017" y="601441"/>
            <a:ext cx="9153940" cy="667289"/>
          </a:xfrm>
          <a:prstGeom prst="bracketPair">
            <a:avLst/>
          </a:prstGeom>
        </p:spPr>
        <p:style>
          <a:lnRef idx="2">
            <a:schemeClr val="accent1"/>
          </a:lnRef>
          <a:fillRef idx="1">
            <a:schemeClr val="lt1"/>
          </a:fillRef>
          <a:effectRef idx="0">
            <a:schemeClr val="accent1"/>
          </a:effectRef>
          <a:fontRef idx="minor">
            <a:schemeClr val="dk1"/>
          </a:fontRef>
        </p:style>
        <p:txBody>
          <a:bodyPr>
            <a:normAutofit/>
          </a:bodyPr>
          <a:lstStyle>
            <a:lvl1pPr algn="l" defTabSz="457200" rtl="1" eaLnBrk="1" latinLnBrk="0" hangingPunct="1">
              <a:spcBef>
                <a:spcPct val="0"/>
              </a:spcBef>
              <a:buNone/>
              <a:defRPr sz="2800" b="0" kern="1200" cap="all">
                <a:solidFill>
                  <a:schemeClr val="dk1"/>
                </a:solidFill>
                <a:latin typeface="+mn-lt"/>
                <a:ea typeface="+mn-ea"/>
                <a:cs typeface="+mn-cs"/>
              </a:defRPr>
            </a:lvl1pPr>
            <a:lvl2pPr rtl="1" eaLnBrk="1" hangingPunct="1">
              <a:defRPr>
                <a:solidFill>
                  <a:schemeClr val="dk1"/>
                </a:solidFill>
                <a:latin typeface="+mn-lt"/>
                <a:ea typeface="+mn-ea"/>
                <a:cs typeface="+mn-cs"/>
              </a:defRPr>
            </a:lvl2pPr>
            <a:lvl3pPr rtl="1" eaLnBrk="1" hangingPunct="1">
              <a:defRPr>
                <a:solidFill>
                  <a:schemeClr val="dk1"/>
                </a:solidFill>
                <a:latin typeface="+mn-lt"/>
                <a:ea typeface="+mn-ea"/>
                <a:cs typeface="+mn-cs"/>
              </a:defRPr>
            </a:lvl3pPr>
            <a:lvl4pPr rtl="1" eaLnBrk="1" hangingPunct="1">
              <a:defRPr>
                <a:solidFill>
                  <a:schemeClr val="dk1"/>
                </a:solidFill>
                <a:latin typeface="+mn-lt"/>
                <a:ea typeface="+mn-ea"/>
                <a:cs typeface="+mn-cs"/>
              </a:defRPr>
            </a:lvl4pPr>
            <a:lvl5pPr rtl="1" eaLnBrk="1" hangingPunct="1">
              <a:defRPr>
                <a:solidFill>
                  <a:schemeClr val="dk1"/>
                </a:solidFill>
                <a:latin typeface="+mn-lt"/>
                <a:ea typeface="+mn-ea"/>
                <a:cs typeface="+mn-cs"/>
              </a:defRPr>
            </a:lvl5pPr>
            <a:lvl6pPr rtl="1" eaLnBrk="1" hangingPunct="1">
              <a:defRPr>
                <a:solidFill>
                  <a:schemeClr val="dk1"/>
                </a:solidFill>
                <a:latin typeface="+mn-lt"/>
                <a:ea typeface="+mn-ea"/>
                <a:cs typeface="+mn-cs"/>
              </a:defRPr>
            </a:lvl6pPr>
            <a:lvl7pPr rtl="1" eaLnBrk="1" hangingPunct="1">
              <a:defRPr>
                <a:solidFill>
                  <a:schemeClr val="dk1"/>
                </a:solidFill>
                <a:latin typeface="+mn-lt"/>
                <a:ea typeface="+mn-ea"/>
                <a:cs typeface="+mn-cs"/>
              </a:defRPr>
            </a:lvl7pPr>
            <a:lvl8pPr rtl="1" eaLnBrk="1" hangingPunct="1">
              <a:defRPr>
                <a:solidFill>
                  <a:schemeClr val="dk1"/>
                </a:solidFill>
                <a:latin typeface="+mn-lt"/>
                <a:ea typeface="+mn-ea"/>
                <a:cs typeface="+mn-cs"/>
              </a:defRPr>
            </a:lvl8pPr>
            <a:lvl9pPr rtl="1" eaLnBrk="1" hangingPunct="1">
              <a:defRPr>
                <a:solidFill>
                  <a:schemeClr val="dk1"/>
                </a:solidFill>
                <a:latin typeface="+mn-lt"/>
                <a:ea typeface="+mn-ea"/>
                <a:cs typeface="+mn-cs"/>
              </a:defRPr>
            </a:lvl9pPr>
          </a:lstStyle>
          <a:p>
            <a:pPr algn="ctr"/>
            <a:r>
              <a:rPr lang="ar-AE" dirty="0"/>
              <a:t>مخطط حالات الاستخدام العام</a:t>
            </a:r>
          </a:p>
        </p:txBody>
      </p:sp>
      <p:pic>
        <p:nvPicPr>
          <p:cNvPr id="5" name="صورة 4">
            <a:extLst>
              <a:ext uri="{FF2B5EF4-FFF2-40B4-BE49-F238E27FC236}">
                <a16:creationId xmlns:a16="http://schemas.microsoft.com/office/drawing/2014/main" id="{90652B8F-D6F0-42E5-813D-8622DC7D4740}"/>
              </a:ext>
            </a:extLst>
          </p:cNvPr>
          <p:cNvPicPr/>
          <p:nvPr/>
        </p:nvPicPr>
        <p:blipFill>
          <a:blip r:embed="rId2"/>
          <a:stretch>
            <a:fillRect/>
          </a:stretch>
        </p:blipFill>
        <p:spPr>
          <a:xfrm>
            <a:off x="3595687" y="1781492"/>
            <a:ext cx="5000625" cy="4914265"/>
          </a:xfrm>
          <a:prstGeom prst="rect">
            <a:avLst/>
          </a:prstGeom>
        </p:spPr>
      </p:pic>
    </p:spTree>
    <p:extLst>
      <p:ext uri="{BB962C8B-B14F-4D97-AF65-F5344CB8AC3E}">
        <p14:creationId xmlns:p14="http://schemas.microsoft.com/office/powerpoint/2010/main" val="18581263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9DCDF-F950-617B-597D-50D86E1D8C0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7878A8-EBFF-9D23-F703-966F7A7D4DAA}"/>
              </a:ext>
            </a:extLst>
          </p:cNvPr>
          <p:cNvSpPr>
            <a:spLocks noGrp="1"/>
          </p:cNvSpPr>
          <p:nvPr>
            <p:ph type="title"/>
          </p:nvPr>
        </p:nvSpPr>
        <p:spPr>
          <a:xfrm>
            <a:off x="1591917" y="801405"/>
            <a:ext cx="9153940" cy="66728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توصيف متطلب إدارة حسابات المستخدمين</a:t>
            </a:r>
          </a:p>
        </p:txBody>
      </p:sp>
      <p:graphicFrame>
        <p:nvGraphicFramePr>
          <p:cNvPr id="3" name="جدول 2">
            <a:extLst>
              <a:ext uri="{FF2B5EF4-FFF2-40B4-BE49-F238E27FC236}">
                <a16:creationId xmlns:a16="http://schemas.microsoft.com/office/drawing/2014/main" id="{F82162B5-4C87-4ACF-BD58-46C239D5E7D4}"/>
              </a:ext>
            </a:extLst>
          </p:cNvPr>
          <p:cNvGraphicFramePr>
            <a:graphicFrameLocks noGrp="1"/>
          </p:cNvGraphicFramePr>
          <p:nvPr>
            <p:extLst>
              <p:ext uri="{D42A27DB-BD31-4B8C-83A1-F6EECF244321}">
                <p14:modId xmlns:p14="http://schemas.microsoft.com/office/powerpoint/2010/main" val="2127384216"/>
              </p:ext>
            </p:extLst>
          </p:nvPr>
        </p:nvGraphicFramePr>
        <p:xfrm>
          <a:off x="2450609" y="2435352"/>
          <a:ext cx="7290781" cy="3813047"/>
        </p:xfrm>
        <a:graphic>
          <a:graphicData uri="http://schemas.openxmlformats.org/drawingml/2006/table">
            <a:tbl>
              <a:tblPr rtl="1" firstRow="1" firstCol="1" bandRow="1">
                <a:tableStyleId>{5C22544A-7EE6-4342-B048-85BDC9FD1C3A}</a:tableStyleId>
              </a:tblPr>
              <a:tblGrid>
                <a:gridCol w="1834117">
                  <a:extLst>
                    <a:ext uri="{9D8B030D-6E8A-4147-A177-3AD203B41FA5}">
                      <a16:colId xmlns:a16="http://schemas.microsoft.com/office/drawing/2014/main" val="46387734"/>
                    </a:ext>
                  </a:extLst>
                </a:gridCol>
                <a:gridCol w="5456664">
                  <a:extLst>
                    <a:ext uri="{9D8B030D-6E8A-4147-A177-3AD203B41FA5}">
                      <a16:colId xmlns:a16="http://schemas.microsoft.com/office/drawing/2014/main" val="2620481139"/>
                    </a:ext>
                  </a:extLst>
                </a:gridCol>
              </a:tblGrid>
              <a:tr h="314478">
                <a:tc>
                  <a:txBody>
                    <a:bodyPr/>
                    <a:lstStyle/>
                    <a:p>
                      <a:pPr algn="r" rtl="1">
                        <a:lnSpc>
                          <a:spcPct val="115000"/>
                        </a:lnSpc>
                        <a:spcAft>
                          <a:spcPts val="800"/>
                        </a:spcAft>
                      </a:pPr>
                      <a:r>
                        <a:rPr lang="ar-AE" sz="1400" kern="100">
                          <a:effectLst/>
                        </a:rPr>
                        <a:t>المعرف</a:t>
                      </a:r>
                      <a:endParaRPr lang="en-US" sz="1400" kern="100">
                        <a:solidFill>
                          <a:srgbClr val="000080"/>
                        </a:solidFill>
                        <a:effectLst/>
                        <a:latin typeface="Calibri" panose="020F0502020204030204" pitchFamily="34" charset="0"/>
                        <a:ea typeface="Calibri" panose="020F0502020204030204" pitchFamily="34" charset="0"/>
                      </a:endParaRPr>
                    </a:p>
                  </a:txBody>
                  <a:tcPr marL="68580" marR="68580" marT="0" marB="0"/>
                </a:tc>
                <a:tc>
                  <a:txBody>
                    <a:bodyPr/>
                    <a:lstStyle/>
                    <a:p>
                      <a:pPr algn="r" rtl="1">
                        <a:lnSpc>
                          <a:spcPct val="115000"/>
                        </a:lnSpc>
                        <a:spcAft>
                          <a:spcPts val="800"/>
                        </a:spcAft>
                      </a:pPr>
                      <a:r>
                        <a:rPr lang="en-US" sz="1400" kern="100" dirty="0">
                          <a:effectLst/>
                        </a:rPr>
                        <a:t>REQ-005</a:t>
                      </a:r>
                      <a:endParaRPr lang="en-US" sz="1400" kern="100" dirty="0">
                        <a:solidFill>
                          <a:srgbClr val="00008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33407100"/>
                  </a:ext>
                </a:extLst>
              </a:tr>
              <a:tr h="314478">
                <a:tc>
                  <a:txBody>
                    <a:bodyPr/>
                    <a:lstStyle/>
                    <a:p>
                      <a:pPr algn="r" rtl="1">
                        <a:lnSpc>
                          <a:spcPct val="115000"/>
                        </a:lnSpc>
                        <a:spcAft>
                          <a:spcPts val="800"/>
                        </a:spcAft>
                      </a:pPr>
                      <a:r>
                        <a:rPr lang="ar-SA" sz="1400" kern="100">
                          <a:effectLst/>
                        </a:rPr>
                        <a:t>حالة الاستخدام</a:t>
                      </a:r>
                      <a:endParaRPr lang="en-US" sz="1400" kern="100">
                        <a:solidFill>
                          <a:srgbClr val="000080"/>
                        </a:solidFill>
                        <a:effectLst/>
                        <a:latin typeface="Calibri" panose="020F0502020204030204" pitchFamily="34" charset="0"/>
                        <a:ea typeface="Calibri" panose="020F0502020204030204" pitchFamily="34" charset="0"/>
                      </a:endParaRPr>
                    </a:p>
                  </a:txBody>
                  <a:tcPr marL="68580" marR="68580" marT="0" marB="0"/>
                </a:tc>
                <a:tc>
                  <a:txBody>
                    <a:bodyPr/>
                    <a:lstStyle/>
                    <a:p>
                      <a:pPr algn="r" rtl="1">
                        <a:lnSpc>
                          <a:spcPct val="115000"/>
                        </a:lnSpc>
                        <a:spcAft>
                          <a:spcPts val="800"/>
                        </a:spcAft>
                      </a:pPr>
                      <a:r>
                        <a:rPr lang="ar-AE" sz="1400" kern="100" dirty="0">
                          <a:effectLst/>
                        </a:rPr>
                        <a:t>إدارة حسابات المستخدمين</a:t>
                      </a:r>
                      <a:endParaRPr lang="en-US" sz="1400" kern="100" dirty="0">
                        <a:solidFill>
                          <a:srgbClr val="00008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2743592766"/>
                  </a:ext>
                </a:extLst>
              </a:tr>
              <a:tr h="314478">
                <a:tc>
                  <a:txBody>
                    <a:bodyPr/>
                    <a:lstStyle/>
                    <a:p>
                      <a:pPr algn="r" rtl="1">
                        <a:lnSpc>
                          <a:spcPct val="115000"/>
                        </a:lnSpc>
                        <a:spcAft>
                          <a:spcPts val="800"/>
                        </a:spcAft>
                      </a:pPr>
                      <a:r>
                        <a:rPr lang="ar-SA" sz="1400" kern="100">
                          <a:effectLst/>
                        </a:rPr>
                        <a:t>وصف موجز</a:t>
                      </a:r>
                      <a:endParaRPr lang="en-US" sz="1400" kern="100">
                        <a:solidFill>
                          <a:srgbClr val="000080"/>
                        </a:solidFill>
                        <a:effectLst/>
                        <a:latin typeface="Calibri" panose="020F0502020204030204" pitchFamily="34" charset="0"/>
                        <a:ea typeface="Calibri" panose="020F0502020204030204" pitchFamily="34" charset="0"/>
                      </a:endParaRPr>
                    </a:p>
                  </a:txBody>
                  <a:tcPr marL="68580" marR="68580" marT="0" marB="0"/>
                </a:tc>
                <a:tc>
                  <a:txBody>
                    <a:bodyPr/>
                    <a:lstStyle/>
                    <a:p>
                      <a:pPr algn="r" rtl="1">
                        <a:lnSpc>
                          <a:spcPct val="115000"/>
                        </a:lnSpc>
                        <a:spcAft>
                          <a:spcPts val="800"/>
                        </a:spcAft>
                      </a:pPr>
                      <a:r>
                        <a:rPr lang="ar-AE" sz="1400" kern="100" dirty="0">
                          <a:effectLst/>
                        </a:rPr>
                        <a:t>إدارة حسابات المستخدمين (والمتقدمين بطلبات تسجيل) ضمن المنصة</a:t>
                      </a:r>
                      <a:endParaRPr lang="en-US" sz="1400" kern="100" dirty="0">
                        <a:solidFill>
                          <a:srgbClr val="00008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136878576"/>
                  </a:ext>
                </a:extLst>
              </a:tr>
              <a:tr h="314478">
                <a:tc>
                  <a:txBody>
                    <a:bodyPr/>
                    <a:lstStyle/>
                    <a:p>
                      <a:pPr algn="r" rtl="1">
                        <a:lnSpc>
                          <a:spcPct val="115000"/>
                        </a:lnSpc>
                        <a:spcAft>
                          <a:spcPts val="800"/>
                        </a:spcAft>
                      </a:pPr>
                      <a:r>
                        <a:rPr lang="ar-SA" sz="1400" kern="100">
                          <a:effectLst/>
                        </a:rPr>
                        <a:t>اللاعبون </a:t>
                      </a:r>
                      <a:r>
                        <a:rPr lang="en-US" sz="1400" kern="100">
                          <a:effectLst/>
                        </a:rPr>
                        <a:t>Actors</a:t>
                      </a:r>
                      <a:endParaRPr lang="en-US" sz="1400" kern="100">
                        <a:solidFill>
                          <a:srgbClr val="000080"/>
                        </a:solidFill>
                        <a:effectLst/>
                        <a:latin typeface="Calibri" panose="020F0502020204030204" pitchFamily="34" charset="0"/>
                        <a:ea typeface="Calibri" panose="020F0502020204030204" pitchFamily="34" charset="0"/>
                      </a:endParaRPr>
                    </a:p>
                  </a:txBody>
                  <a:tcPr marL="68580" marR="68580" marT="0" marB="0"/>
                </a:tc>
                <a:tc>
                  <a:txBody>
                    <a:bodyPr/>
                    <a:lstStyle/>
                    <a:p>
                      <a:pPr algn="r" rtl="1">
                        <a:lnSpc>
                          <a:spcPct val="115000"/>
                        </a:lnSpc>
                        <a:spcAft>
                          <a:spcPts val="800"/>
                        </a:spcAft>
                      </a:pPr>
                      <a:r>
                        <a:rPr lang="ar-AE" sz="1400" kern="100" dirty="0">
                          <a:solidFill>
                            <a:srgbClr val="000080"/>
                          </a:solidFill>
                          <a:effectLst/>
                          <a:latin typeface="Calibri" panose="020F0502020204030204" pitchFamily="34" charset="0"/>
                          <a:ea typeface="Calibri" panose="020F0502020204030204" pitchFamily="34" charset="0"/>
                        </a:rPr>
                        <a:t>المدير</a:t>
                      </a:r>
                      <a:endParaRPr lang="en-US" sz="1400" kern="100" dirty="0">
                        <a:solidFill>
                          <a:srgbClr val="00008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878470613"/>
                  </a:ext>
                </a:extLst>
              </a:tr>
              <a:tr h="314478">
                <a:tc>
                  <a:txBody>
                    <a:bodyPr/>
                    <a:lstStyle/>
                    <a:p>
                      <a:pPr algn="r" rtl="1">
                        <a:lnSpc>
                          <a:spcPct val="115000"/>
                        </a:lnSpc>
                        <a:spcAft>
                          <a:spcPts val="800"/>
                        </a:spcAft>
                      </a:pPr>
                      <a:r>
                        <a:rPr lang="ar-SA" sz="1400" kern="100">
                          <a:effectLst/>
                        </a:rPr>
                        <a:t>الشروط السابقة</a:t>
                      </a:r>
                      <a:endParaRPr lang="en-US" sz="1400" kern="100">
                        <a:solidFill>
                          <a:srgbClr val="000080"/>
                        </a:solidFill>
                        <a:effectLst/>
                        <a:latin typeface="Calibri" panose="020F0502020204030204" pitchFamily="34" charset="0"/>
                        <a:ea typeface="Calibri" panose="020F0502020204030204" pitchFamily="34" charset="0"/>
                      </a:endParaRPr>
                    </a:p>
                  </a:txBody>
                  <a:tcPr marL="68580" marR="68580" marT="0" marB="0"/>
                </a:tc>
                <a:tc>
                  <a:txBody>
                    <a:bodyPr/>
                    <a:lstStyle/>
                    <a:p>
                      <a:pPr marL="342900" lvl="0" indent="-342900" algn="r" rtl="1">
                        <a:lnSpc>
                          <a:spcPct val="115000"/>
                        </a:lnSpc>
                        <a:spcAft>
                          <a:spcPts val="800"/>
                        </a:spcAft>
                        <a:buClr>
                          <a:srgbClr val="000000"/>
                        </a:buClr>
                        <a:buFont typeface="Simplified Arabic" panose="02020603050405020304" pitchFamily="18" charset="-78"/>
                        <a:buChar char="-"/>
                      </a:pPr>
                      <a:r>
                        <a:rPr lang="ar-AE" sz="1400" kern="100" dirty="0">
                          <a:effectLst/>
                        </a:rPr>
                        <a:t>تسجيل الدخول</a:t>
                      </a:r>
                      <a:endParaRPr lang="en-US" sz="1400" kern="100" dirty="0">
                        <a:solidFill>
                          <a:srgbClr val="000080"/>
                        </a:solidFill>
                        <a:effectLst/>
                        <a:latin typeface="Calibri" panose="020F0502020204030204" pitchFamily="34" charset="0"/>
                        <a:ea typeface="Arial" panose="020B0604020202020204" pitchFamily="34" charset="0"/>
                      </a:endParaRPr>
                    </a:p>
                  </a:txBody>
                  <a:tcPr marL="68580" marR="68580" marT="0" marB="0"/>
                </a:tc>
                <a:extLst>
                  <a:ext uri="{0D108BD9-81ED-4DB2-BD59-A6C34878D82A}">
                    <a16:rowId xmlns:a16="http://schemas.microsoft.com/office/drawing/2014/main" val="3530072909"/>
                  </a:ext>
                </a:extLst>
              </a:tr>
              <a:tr h="314478">
                <a:tc>
                  <a:txBody>
                    <a:bodyPr/>
                    <a:lstStyle/>
                    <a:p>
                      <a:pPr algn="r" rtl="1">
                        <a:lnSpc>
                          <a:spcPct val="115000"/>
                        </a:lnSpc>
                        <a:spcAft>
                          <a:spcPts val="800"/>
                        </a:spcAft>
                      </a:pPr>
                      <a:r>
                        <a:rPr lang="ar-SA" sz="1400" kern="100">
                          <a:effectLst/>
                        </a:rPr>
                        <a:t>الشروط اللاحقة</a:t>
                      </a:r>
                      <a:endParaRPr lang="en-US" sz="1400" kern="100">
                        <a:solidFill>
                          <a:srgbClr val="000080"/>
                        </a:solidFill>
                        <a:effectLst/>
                        <a:latin typeface="Calibri" panose="020F0502020204030204" pitchFamily="34" charset="0"/>
                        <a:ea typeface="Calibri" panose="020F0502020204030204" pitchFamily="34" charset="0"/>
                      </a:endParaRPr>
                    </a:p>
                  </a:txBody>
                  <a:tcPr marL="68580" marR="68580" marT="0" marB="0"/>
                </a:tc>
                <a:tc>
                  <a:txBody>
                    <a:bodyPr/>
                    <a:lstStyle/>
                    <a:p>
                      <a:pPr algn="r" rtl="1">
                        <a:lnSpc>
                          <a:spcPct val="115000"/>
                        </a:lnSpc>
                        <a:spcAft>
                          <a:spcPts val="800"/>
                        </a:spcAft>
                      </a:pPr>
                      <a:r>
                        <a:rPr lang="ar-AE" sz="1400" kern="100" dirty="0">
                          <a:effectLst/>
                        </a:rPr>
                        <a:t>إتمام العملية بنجاح</a:t>
                      </a:r>
                      <a:endParaRPr lang="en-US" sz="1400" kern="100" dirty="0">
                        <a:solidFill>
                          <a:srgbClr val="000080"/>
                        </a:solidFill>
                        <a:effectLst/>
                        <a:latin typeface="Calibri" panose="020F0502020204030204" pitchFamily="34" charset="0"/>
                        <a:ea typeface="Calibri" panose="020F0502020204030204" pitchFamily="34" charset="0"/>
                      </a:endParaRPr>
                    </a:p>
                  </a:txBody>
                  <a:tcPr marL="68580" marR="68580" marT="0" marB="0"/>
                </a:tc>
                <a:extLst>
                  <a:ext uri="{0D108BD9-81ED-4DB2-BD59-A6C34878D82A}">
                    <a16:rowId xmlns:a16="http://schemas.microsoft.com/office/drawing/2014/main" val="3310000369"/>
                  </a:ext>
                </a:extLst>
              </a:tr>
              <a:tr h="1375842">
                <a:tc>
                  <a:txBody>
                    <a:bodyPr/>
                    <a:lstStyle/>
                    <a:p>
                      <a:pPr algn="r" rtl="1">
                        <a:lnSpc>
                          <a:spcPct val="115000"/>
                        </a:lnSpc>
                        <a:spcAft>
                          <a:spcPts val="800"/>
                        </a:spcAft>
                      </a:pPr>
                      <a:r>
                        <a:rPr lang="ar-SA" sz="1400" kern="100">
                          <a:effectLst/>
                        </a:rPr>
                        <a:t>التدفق الرئيسي</a:t>
                      </a:r>
                      <a:endParaRPr lang="en-US" sz="1400" kern="100">
                        <a:solidFill>
                          <a:srgbClr val="000080"/>
                        </a:solidFill>
                        <a:effectLst/>
                        <a:latin typeface="Calibri" panose="020F0502020204030204" pitchFamily="34" charset="0"/>
                        <a:ea typeface="Calibri" panose="020F0502020204030204" pitchFamily="34" charset="0"/>
                      </a:endParaRPr>
                    </a:p>
                  </a:txBody>
                  <a:tcPr marL="68580" marR="68580" marT="0" marB="0"/>
                </a:tc>
                <a:tc>
                  <a:txBody>
                    <a:bodyPr/>
                    <a:lstStyle/>
                    <a:p>
                      <a:pPr marL="342900" lvl="0" indent="-342900" algn="justLow" rtl="1">
                        <a:lnSpc>
                          <a:spcPct val="115000"/>
                        </a:lnSpc>
                        <a:buClr>
                          <a:srgbClr val="000000"/>
                        </a:buClr>
                        <a:buFont typeface="Simplified Arabic" panose="02020603050405020304" pitchFamily="18" charset="-78"/>
                        <a:buChar char="-"/>
                      </a:pPr>
                      <a:r>
                        <a:rPr lang="ar-AE" sz="1400" kern="100" dirty="0">
                          <a:effectLst/>
                        </a:rPr>
                        <a:t>عند قيام المدير بالضغط على خيار إدارة المستخدمين، يقوم النظام بعرض قائمة المستخدمين المسجلين (والمتقدمين بطلبات تسجيل) ضمن المنصة</a:t>
                      </a:r>
                      <a:endParaRPr lang="en-US" sz="1400" dirty="0">
                        <a:effectLst/>
                      </a:endParaRPr>
                    </a:p>
                    <a:p>
                      <a:pPr marL="342900" lvl="0" indent="-342900" algn="justLow" rtl="1">
                        <a:lnSpc>
                          <a:spcPct val="115000"/>
                        </a:lnSpc>
                        <a:buClr>
                          <a:srgbClr val="000000"/>
                        </a:buClr>
                        <a:buFont typeface="Simplified Arabic" panose="02020603050405020304" pitchFamily="18" charset="-78"/>
                        <a:buChar char="-"/>
                      </a:pPr>
                      <a:r>
                        <a:rPr lang="ar-AE" sz="1400" kern="100" dirty="0">
                          <a:effectLst/>
                        </a:rPr>
                        <a:t>يقوم المدير باختيار المستخدم الذي يريد تعديل حالة الحساب الخاصة به، يقوم النظام بعرض رسالة تأكيد التعديل</a:t>
                      </a:r>
                      <a:endParaRPr lang="en-US" sz="1400" dirty="0">
                        <a:effectLst/>
                      </a:endParaRPr>
                    </a:p>
                    <a:p>
                      <a:pPr marL="342900" lvl="0" indent="-342900" algn="justLow" rtl="1">
                        <a:lnSpc>
                          <a:spcPct val="115000"/>
                        </a:lnSpc>
                        <a:buClr>
                          <a:srgbClr val="000000"/>
                        </a:buClr>
                        <a:buFont typeface="Simplified Arabic" panose="02020603050405020304" pitchFamily="18" charset="-78"/>
                        <a:buChar char="-"/>
                      </a:pPr>
                      <a:r>
                        <a:rPr lang="ar-AE" sz="1400" dirty="0">
                          <a:effectLst/>
                        </a:rPr>
                        <a:t>عند قيام المدير بتأكيد التعديل، يقوم النظام </a:t>
                      </a:r>
                      <a:r>
                        <a:rPr lang="ar-SA" sz="1400" dirty="0">
                          <a:effectLst/>
                        </a:rPr>
                        <a:t>بتحديث قاعدة البيانات</a:t>
                      </a:r>
                      <a:endParaRPr lang="en-US" sz="1400" dirty="0">
                        <a:solidFill>
                          <a:srgbClr val="000080"/>
                        </a:solidFill>
                        <a:effectLst/>
                        <a:latin typeface="Calibri" panose="020F0502020204030204" pitchFamily="34" charset="0"/>
                        <a:ea typeface="Arial" panose="020B0604020202020204" pitchFamily="34" charset="0"/>
                      </a:endParaRPr>
                    </a:p>
                  </a:txBody>
                  <a:tcPr marL="68580" marR="68580" marT="0" marB="0"/>
                </a:tc>
                <a:extLst>
                  <a:ext uri="{0D108BD9-81ED-4DB2-BD59-A6C34878D82A}">
                    <a16:rowId xmlns:a16="http://schemas.microsoft.com/office/drawing/2014/main" val="3115338523"/>
                  </a:ext>
                </a:extLst>
              </a:tr>
              <a:tr h="550337">
                <a:tc>
                  <a:txBody>
                    <a:bodyPr/>
                    <a:lstStyle/>
                    <a:p>
                      <a:pPr algn="r" rtl="1">
                        <a:lnSpc>
                          <a:spcPct val="115000"/>
                        </a:lnSpc>
                        <a:spcAft>
                          <a:spcPts val="800"/>
                        </a:spcAft>
                      </a:pPr>
                      <a:r>
                        <a:rPr lang="ar-SA" sz="1400" kern="100">
                          <a:effectLst/>
                        </a:rPr>
                        <a:t>التدفق البديل</a:t>
                      </a:r>
                      <a:endParaRPr lang="en-US" sz="1400" kern="100">
                        <a:solidFill>
                          <a:srgbClr val="000080"/>
                        </a:solidFill>
                        <a:effectLst/>
                        <a:latin typeface="Calibri" panose="020F0502020204030204" pitchFamily="34" charset="0"/>
                        <a:ea typeface="Calibri" panose="020F0502020204030204" pitchFamily="34" charset="0"/>
                      </a:endParaRPr>
                    </a:p>
                  </a:txBody>
                  <a:tcPr marL="68580" marR="68580" marT="0" marB="0"/>
                </a:tc>
                <a:tc>
                  <a:txBody>
                    <a:bodyPr/>
                    <a:lstStyle/>
                    <a:p>
                      <a:pPr marL="342900" lvl="0" indent="-342900" algn="justLow" rtl="1">
                        <a:lnSpc>
                          <a:spcPct val="115000"/>
                        </a:lnSpc>
                        <a:buClr>
                          <a:srgbClr val="000000"/>
                        </a:buClr>
                        <a:buFont typeface="Simplified Arabic" panose="02020603050405020304" pitchFamily="18" charset="-78"/>
                        <a:buChar char="-"/>
                      </a:pPr>
                      <a:r>
                        <a:rPr lang="ar-AE" sz="1400" kern="100" dirty="0">
                          <a:effectLst/>
                        </a:rPr>
                        <a:t>عند عدم مستخدمين مسجلين (أو متقدمين بطلبات تسجيل)، يتم إظهار رسالة لا يوجد بيانات</a:t>
                      </a:r>
                      <a:endParaRPr lang="en-US" sz="1400" dirty="0">
                        <a:solidFill>
                          <a:srgbClr val="000080"/>
                        </a:solidFill>
                        <a:effectLst/>
                        <a:latin typeface="Calibri" panose="020F0502020204030204" pitchFamily="34" charset="0"/>
                        <a:ea typeface="Arial" panose="020B0604020202020204" pitchFamily="34" charset="0"/>
                      </a:endParaRPr>
                    </a:p>
                  </a:txBody>
                  <a:tcPr marL="68580" marR="68580" marT="0" marB="0"/>
                </a:tc>
                <a:extLst>
                  <a:ext uri="{0D108BD9-81ED-4DB2-BD59-A6C34878D82A}">
                    <a16:rowId xmlns:a16="http://schemas.microsoft.com/office/drawing/2014/main" val="1031487816"/>
                  </a:ext>
                </a:extLst>
              </a:tr>
            </a:tbl>
          </a:graphicData>
        </a:graphic>
      </p:graphicFrame>
    </p:spTree>
    <p:extLst>
      <p:ext uri="{BB962C8B-B14F-4D97-AF65-F5344CB8AC3E}">
        <p14:creationId xmlns:p14="http://schemas.microsoft.com/office/powerpoint/2010/main" val="352445772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9DCDF-F950-617B-597D-50D86E1D8C0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7878A8-EBFF-9D23-F703-966F7A7D4DAA}"/>
              </a:ext>
            </a:extLst>
          </p:cNvPr>
          <p:cNvSpPr>
            <a:spLocks noGrp="1"/>
          </p:cNvSpPr>
          <p:nvPr>
            <p:ph type="title"/>
          </p:nvPr>
        </p:nvSpPr>
        <p:spPr>
          <a:xfrm>
            <a:off x="1630017" y="715680"/>
            <a:ext cx="9153940" cy="66728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مخطط النشاط لعملية إدارة حسابات المستخدمين</a:t>
            </a:r>
          </a:p>
        </p:txBody>
      </p:sp>
      <p:pic>
        <p:nvPicPr>
          <p:cNvPr id="5" name="صورة 4">
            <a:extLst>
              <a:ext uri="{FF2B5EF4-FFF2-40B4-BE49-F238E27FC236}">
                <a16:creationId xmlns:a16="http://schemas.microsoft.com/office/drawing/2014/main" id="{593FD616-74D1-409B-8C15-892A6093A40D}"/>
              </a:ext>
            </a:extLst>
          </p:cNvPr>
          <p:cNvPicPr/>
          <p:nvPr/>
        </p:nvPicPr>
        <p:blipFill rotWithShape="1">
          <a:blip r:embed="rId2">
            <a:extLst>
              <a:ext uri="{28A0092B-C50C-407E-A947-70E740481C1C}">
                <a14:useLocalDpi xmlns:a14="http://schemas.microsoft.com/office/drawing/2010/main" val="0"/>
              </a:ext>
            </a:extLst>
          </a:blip>
          <a:srcRect t="8147"/>
          <a:stretch/>
        </p:blipFill>
        <p:spPr bwMode="auto">
          <a:xfrm>
            <a:off x="4100512" y="2139950"/>
            <a:ext cx="3648075" cy="45402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78404073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9DCDF-F950-617B-597D-50D86E1D8C0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7878A8-EBFF-9D23-F703-966F7A7D4DAA}"/>
              </a:ext>
            </a:extLst>
          </p:cNvPr>
          <p:cNvSpPr>
            <a:spLocks noGrp="1"/>
          </p:cNvSpPr>
          <p:nvPr>
            <p:ph type="title"/>
          </p:nvPr>
        </p:nvSpPr>
        <p:spPr>
          <a:xfrm>
            <a:off x="1601442" y="772830"/>
            <a:ext cx="9153940" cy="66728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ar-AE" dirty="0"/>
              <a:t>مخطط التسلسل لعملية إدارة حسابات المستخدمين</a:t>
            </a:r>
          </a:p>
        </p:txBody>
      </p:sp>
      <p:pic>
        <p:nvPicPr>
          <p:cNvPr id="5" name="صورة 4">
            <a:extLst>
              <a:ext uri="{FF2B5EF4-FFF2-40B4-BE49-F238E27FC236}">
                <a16:creationId xmlns:a16="http://schemas.microsoft.com/office/drawing/2014/main" id="{4A33D57A-AE83-4689-8E13-62E79F0D6AE4}"/>
              </a:ext>
            </a:extLst>
          </p:cNvPr>
          <p:cNvPicPr/>
          <p:nvPr/>
        </p:nvPicPr>
        <p:blipFill rotWithShape="1">
          <a:blip r:embed="rId2">
            <a:extLst>
              <a:ext uri="{28A0092B-C50C-407E-A947-70E740481C1C}">
                <a14:useLocalDpi xmlns:a14="http://schemas.microsoft.com/office/drawing/2010/main" val="0"/>
              </a:ext>
            </a:extLst>
          </a:blip>
          <a:srcRect t="5028"/>
          <a:stretch/>
        </p:blipFill>
        <p:spPr>
          <a:xfrm>
            <a:off x="3453288" y="1876425"/>
            <a:ext cx="5290662" cy="4841813"/>
          </a:xfrm>
          <a:prstGeom prst="rect">
            <a:avLst/>
          </a:prstGeom>
        </p:spPr>
      </p:pic>
    </p:spTree>
    <p:extLst>
      <p:ext uri="{BB962C8B-B14F-4D97-AF65-F5344CB8AC3E}">
        <p14:creationId xmlns:p14="http://schemas.microsoft.com/office/powerpoint/2010/main" val="15860215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9DCDF-F950-617B-597D-50D86E1D8C0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7878A8-EBFF-9D23-F703-966F7A7D4DAA}"/>
              </a:ext>
            </a:extLst>
          </p:cNvPr>
          <p:cNvSpPr>
            <a:spLocks noGrp="1"/>
          </p:cNvSpPr>
          <p:nvPr>
            <p:ph type="title"/>
          </p:nvPr>
        </p:nvSpPr>
        <p:spPr>
          <a:xfrm>
            <a:off x="1620492" y="772830"/>
            <a:ext cx="9153940" cy="66728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en-US" dirty="0"/>
              <a:t>CLASS Diagram</a:t>
            </a:r>
            <a:endParaRPr lang="ar-AE" dirty="0"/>
          </a:p>
        </p:txBody>
      </p:sp>
      <p:pic>
        <p:nvPicPr>
          <p:cNvPr id="5" name="صورة 4">
            <a:extLst>
              <a:ext uri="{FF2B5EF4-FFF2-40B4-BE49-F238E27FC236}">
                <a16:creationId xmlns:a16="http://schemas.microsoft.com/office/drawing/2014/main" id="{0D10E0B1-3D96-4B3F-A290-0E5672BFD71E}"/>
              </a:ext>
            </a:extLst>
          </p:cNvPr>
          <p:cNvPicPr/>
          <p:nvPr/>
        </p:nvPicPr>
        <p:blipFill rotWithShape="1">
          <a:blip r:embed="rId2">
            <a:extLst>
              <a:ext uri="{28A0092B-C50C-407E-A947-70E740481C1C}">
                <a14:useLocalDpi xmlns:a14="http://schemas.microsoft.com/office/drawing/2010/main" val="0"/>
              </a:ext>
            </a:extLst>
          </a:blip>
          <a:srcRect t="7510"/>
          <a:stretch/>
        </p:blipFill>
        <p:spPr bwMode="auto">
          <a:xfrm>
            <a:off x="3811449" y="2013585"/>
            <a:ext cx="4772025" cy="431673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7522414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9DCDF-F950-617B-597D-50D86E1D8C0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7878A8-EBFF-9D23-F703-966F7A7D4DAA}"/>
              </a:ext>
            </a:extLst>
          </p:cNvPr>
          <p:cNvSpPr>
            <a:spLocks noGrp="1"/>
          </p:cNvSpPr>
          <p:nvPr>
            <p:ph type="title"/>
          </p:nvPr>
        </p:nvSpPr>
        <p:spPr>
          <a:xfrm>
            <a:off x="1630017" y="820455"/>
            <a:ext cx="9153940" cy="66728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en-US" dirty="0"/>
              <a:t>ERD</a:t>
            </a:r>
            <a:endParaRPr lang="ar-AE" dirty="0"/>
          </a:p>
        </p:txBody>
      </p:sp>
      <p:pic>
        <p:nvPicPr>
          <p:cNvPr id="5" name="صورة 4">
            <a:extLst>
              <a:ext uri="{FF2B5EF4-FFF2-40B4-BE49-F238E27FC236}">
                <a16:creationId xmlns:a16="http://schemas.microsoft.com/office/drawing/2014/main" id="{A466B172-A46E-484B-B615-D8F2C638267E}"/>
              </a:ext>
            </a:extLst>
          </p:cNvPr>
          <p:cNvPicPr/>
          <p:nvPr/>
        </p:nvPicPr>
        <p:blipFill rotWithShape="1">
          <a:blip r:embed="rId2">
            <a:extLst>
              <a:ext uri="{28A0092B-C50C-407E-A947-70E740481C1C}">
                <a14:useLocalDpi xmlns:a14="http://schemas.microsoft.com/office/drawing/2010/main" val="0"/>
              </a:ext>
            </a:extLst>
          </a:blip>
          <a:srcRect t="4688"/>
          <a:stretch/>
        </p:blipFill>
        <p:spPr bwMode="auto">
          <a:xfrm>
            <a:off x="3306127" y="1900555"/>
            <a:ext cx="5579745" cy="495744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272446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9DCDF-F950-617B-597D-50D86E1D8C0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7878A8-EBFF-9D23-F703-966F7A7D4DAA}"/>
              </a:ext>
            </a:extLst>
          </p:cNvPr>
          <p:cNvSpPr>
            <a:spLocks noGrp="1"/>
          </p:cNvSpPr>
          <p:nvPr>
            <p:ph type="title"/>
          </p:nvPr>
        </p:nvSpPr>
        <p:spPr>
          <a:xfrm>
            <a:off x="1668117" y="763305"/>
            <a:ext cx="9153940" cy="66728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en-US" dirty="0"/>
              <a:t>Test Cases</a:t>
            </a:r>
            <a:endParaRPr lang="ar-AE" dirty="0"/>
          </a:p>
        </p:txBody>
      </p:sp>
      <p:graphicFrame>
        <p:nvGraphicFramePr>
          <p:cNvPr id="4" name="جدول 3">
            <a:extLst>
              <a:ext uri="{FF2B5EF4-FFF2-40B4-BE49-F238E27FC236}">
                <a16:creationId xmlns:a16="http://schemas.microsoft.com/office/drawing/2014/main" id="{13F44617-94B3-4B6E-B2BA-915F3D24F274}"/>
              </a:ext>
            </a:extLst>
          </p:cNvPr>
          <p:cNvGraphicFramePr>
            <a:graphicFrameLocks noGrp="1"/>
          </p:cNvGraphicFramePr>
          <p:nvPr>
            <p:extLst>
              <p:ext uri="{D42A27DB-BD31-4B8C-83A1-F6EECF244321}">
                <p14:modId xmlns:p14="http://schemas.microsoft.com/office/powerpoint/2010/main" val="2851931476"/>
              </p:ext>
            </p:extLst>
          </p:nvPr>
        </p:nvGraphicFramePr>
        <p:xfrm>
          <a:off x="737419" y="1842688"/>
          <a:ext cx="10717161" cy="4818179"/>
        </p:xfrm>
        <a:graphic>
          <a:graphicData uri="http://schemas.openxmlformats.org/drawingml/2006/table">
            <a:tbl>
              <a:tblPr firstRow="1" firstCol="1" bandRow="1">
                <a:tableStyleId>{5DA37D80-6434-44D0-A028-1B22A696006F}</a:tableStyleId>
              </a:tblPr>
              <a:tblGrid>
                <a:gridCol w="893812">
                  <a:extLst>
                    <a:ext uri="{9D8B030D-6E8A-4147-A177-3AD203B41FA5}">
                      <a16:colId xmlns:a16="http://schemas.microsoft.com/office/drawing/2014/main" val="1357989632"/>
                    </a:ext>
                  </a:extLst>
                </a:gridCol>
                <a:gridCol w="1315073">
                  <a:extLst>
                    <a:ext uri="{9D8B030D-6E8A-4147-A177-3AD203B41FA5}">
                      <a16:colId xmlns:a16="http://schemas.microsoft.com/office/drawing/2014/main" val="2592003280"/>
                    </a:ext>
                  </a:extLst>
                </a:gridCol>
                <a:gridCol w="1159997">
                  <a:extLst>
                    <a:ext uri="{9D8B030D-6E8A-4147-A177-3AD203B41FA5}">
                      <a16:colId xmlns:a16="http://schemas.microsoft.com/office/drawing/2014/main" val="4106158122"/>
                    </a:ext>
                  </a:extLst>
                </a:gridCol>
                <a:gridCol w="2035490">
                  <a:extLst>
                    <a:ext uri="{9D8B030D-6E8A-4147-A177-3AD203B41FA5}">
                      <a16:colId xmlns:a16="http://schemas.microsoft.com/office/drawing/2014/main" val="857071157"/>
                    </a:ext>
                  </a:extLst>
                </a:gridCol>
                <a:gridCol w="2710732">
                  <a:extLst>
                    <a:ext uri="{9D8B030D-6E8A-4147-A177-3AD203B41FA5}">
                      <a16:colId xmlns:a16="http://schemas.microsoft.com/office/drawing/2014/main" val="207928674"/>
                    </a:ext>
                  </a:extLst>
                </a:gridCol>
                <a:gridCol w="1484797">
                  <a:extLst>
                    <a:ext uri="{9D8B030D-6E8A-4147-A177-3AD203B41FA5}">
                      <a16:colId xmlns:a16="http://schemas.microsoft.com/office/drawing/2014/main" val="1718988144"/>
                    </a:ext>
                  </a:extLst>
                </a:gridCol>
                <a:gridCol w="1117260">
                  <a:extLst>
                    <a:ext uri="{9D8B030D-6E8A-4147-A177-3AD203B41FA5}">
                      <a16:colId xmlns:a16="http://schemas.microsoft.com/office/drawing/2014/main" val="3782306999"/>
                    </a:ext>
                  </a:extLst>
                </a:gridCol>
              </a:tblGrid>
              <a:tr h="274422">
                <a:tc>
                  <a:txBody>
                    <a:bodyPr/>
                    <a:lstStyle/>
                    <a:p>
                      <a:pPr algn="ctr">
                        <a:lnSpc>
                          <a:spcPct val="115000"/>
                        </a:lnSpc>
                        <a:spcAft>
                          <a:spcPts val="800"/>
                        </a:spcAft>
                        <a:buNone/>
                      </a:pPr>
                      <a:r>
                        <a:rPr lang="en-US" sz="1200" b="1" kern="100" dirty="0">
                          <a:solidFill>
                            <a:srgbClr val="000000"/>
                          </a:solidFill>
                          <a:effectLst/>
                        </a:rPr>
                        <a:t>Test Case ID</a:t>
                      </a:r>
                      <a:endParaRPr lang="en-US" sz="120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a:lnSpc>
                          <a:spcPct val="115000"/>
                        </a:lnSpc>
                        <a:spcAft>
                          <a:spcPts val="800"/>
                        </a:spcAft>
                        <a:buNone/>
                      </a:pPr>
                      <a:r>
                        <a:rPr lang="en-US" sz="1200" b="1" kern="100">
                          <a:solidFill>
                            <a:srgbClr val="000000"/>
                          </a:solidFill>
                          <a:effectLst/>
                        </a:rPr>
                        <a:t>Desc.</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a:lnSpc>
                          <a:spcPct val="115000"/>
                        </a:lnSpc>
                        <a:spcAft>
                          <a:spcPts val="800"/>
                        </a:spcAft>
                        <a:buNone/>
                      </a:pPr>
                      <a:r>
                        <a:rPr lang="en-US" sz="1200" b="1" kern="100">
                          <a:solidFill>
                            <a:srgbClr val="000000"/>
                          </a:solidFill>
                          <a:effectLst/>
                        </a:rPr>
                        <a:t>Pre-Cond.</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a:lnSpc>
                          <a:spcPct val="115000"/>
                        </a:lnSpc>
                        <a:spcAft>
                          <a:spcPts val="800"/>
                        </a:spcAft>
                        <a:buNone/>
                      </a:pPr>
                      <a:r>
                        <a:rPr lang="en-US" sz="1200" b="1" kern="100">
                          <a:solidFill>
                            <a:srgbClr val="000000"/>
                          </a:solidFill>
                          <a:effectLst/>
                        </a:rPr>
                        <a:t>Test Steps</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a:lnSpc>
                          <a:spcPct val="115000"/>
                        </a:lnSpc>
                        <a:spcAft>
                          <a:spcPts val="800"/>
                        </a:spcAft>
                        <a:buNone/>
                      </a:pPr>
                      <a:r>
                        <a:rPr lang="en-US" sz="1200" b="1" kern="100">
                          <a:solidFill>
                            <a:srgbClr val="000000"/>
                          </a:solidFill>
                          <a:effectLst/>
                        </a:rPr>
                        <a:t>Test Data</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a:lnSpc>
                          <a:spcPct val="115000"/>
                        </a:lnSpc>
                        <a:spcAft>
                          <a:spcPts val="800"/>
                        </a:spcAft>
                        <a:buNone/>
                      </a:pPr>
                      <a:r>
                        <a:rPr lang="en-US" sz="1200" b="1" kern="100">
                          <a:solidFill>
                            <a:srgbClr val="000000"/>
                          </a:solidFill>
                          <a:effectLst/>
                        </a:rPr>
                        <a:t>Expected Result</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a:lnSpc>
                          <a:spcPct val="115000"/>
                        </a:lnSpc>
                        <a:spcAft>
                          <a:spcPts val="800"/>
                        </a:spcAft>
                        <a:buNone/>
                      </a:pPr>
                      <a:r>
                        <a:rPr lang="en-US" sz="1200" b="1" kern="100">
                          <a:solidFill>
                            <a:srgbClr val="000000"/>
                          </a:solidFill>
                          <a:effectLst/>
                        </a:rPr>
                        <a:t>Status</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extLst>
                  <a:ext uri="{0D108BD9-81ED-4DB2-BD59-A6C34878D82A}">
                    <a16:rowId xmlns:a16="http://schemas.microsoft.com/office/drawing/2014/main" val="1823782027"/>
                  </a:ext>
                </a:extLst>
              </a:tr>
              <a:tr h="733891">
                <a:tc>
                  <a:txBody>
                    <a:bodyPr/>
                    <a:lstStyle/>
                    <a:p>
                      <a:pPr algn="ctr">
                        <a:lnSpc>
                          <a:spcPct val="115000"/>
                        </a:lnSpc>
                        <a:spcAft>
                          <a:spcPts val="800"/>
                        </a:spcAft>
                        <a:buNone/>
                      </a:pPr>
                      <a:r>
                        <a:rPr lang="en-US" sz="1200" b="1" kern="100" dirty="0">
                          <a:solidFill>
                            <a:srgbClr val="000000"/>
                          </a:solidFill>
                          <a:effectLst/>
                        </a:rPr>
                        <a:t>TC-1</a:t>
                      </a:r>
                      <a:endParaRPr lang="en-US" sz="120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تسجيل الدخول باستخدام بيانات صحيحة</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وجود حساب للمستخدم</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1.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الانتقال إلى صفحة تسجيل الدخول</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2.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إدخال البريد الإلكتروني وكلمة المرور</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3.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الضغط على </a:t>
                      </a: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تسجيل الدخول</a:t>
                      </a: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Email: ad@admin.com</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Password: admin123</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تسجيل الدخول بنجاح، ظهور لوحة التحكم</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Aft>
                          <a:spcPts val="800"/>
                        </a:spcAft>
                        <a:buNone/>
                      </a:pPr>
                      <a:r>
                        <a:rPr lang="en-US" sz="1200" b="1" kern="100" dirty="0">
                          <a:solidFill>
                            <a:srgbClr val="000000"/>
                          </a:solidFill>
                          <a:effectLst/>
                        </a:rPr>
                        <a:t>done</a:t>
                      </a:r>
                      <a:endParaRPr lang="en-US" sz="120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extLst>
                  <a:ext uri="{0D108BD9-81ED-4DB2-BD59-A6C34878D82A}">
                    <a16:rowId xmlns:a16="http://schemas.microsoft.com/office/drawing/2014/main" val="3432285271"/>
                  </a:ext>
                </a:extLst>
              </a:tr>
              <a:tr h="829295">
                <a:tc>
                  <a:txBody>
                    <a:bodyPr/>
                    <a:lstStyle/>
                    <a:p>
                      <a:pPr algn="ctr">
                        <a:lnSpc>
                          <a:spcPct val="115000"/>
                        </a:lnSpc>
                        <a:spcAft>
                          <a:spcPts val="800"/>
                        </a:spcAft>
                        <a:buNone/>
                      </a:pPr>
                      <a:r>
                        <a:rPr lang="en-US" sz="1200" b="1" kern="100">
                          <a:solidFill>
                            <a:srgbClr val="000000"/>
                          </a:solidFill>
                          <a:effectLst/>
                        </a:rPr>
                        <a:t>TC-2</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تسجيل الدخول باستخدام بيانات غير صحيحة</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وجود حساب للمستخدم</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1.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الانتقال إلى صفحة تسجيل الدخول</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2.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إدخال بريد إلكتروني وكلمة مرور غير صحيحتين</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3.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الضغط على </a:t>
                      </a: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تسجيل الدخول</a:t>
                      </a: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Email: ad@admin.com</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Password: WrongPass</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ظهور رسالة خطأ: "البريد الإلكتروني أو كلمة المرور غير صحيحة"</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Aft>
                          <a:spcPts val="800"/>
                        </a:spcAft>
                        <a:buNone/>
                      </a:pPr>
                      <a:r>
                        <a:rPr lang="en-US" sz="1200" b="1" kern="100">
                          <a:solidFill>
                            <a:srgbClr val="000000"/>
                          </a:solidFill>
                          <a:effectLst/>
                        </a:rPr>
                        <a:t>done</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extLst>
                  <a:ext uri="{0D108BD9-81ED-4DB2-BD59-A6C34878D82A}">
                    <a16:rowId xmlns:a16="http://schemas.microsoft.com/office/drawing/2014/main" val="805955251"/>
                  </a:ext>
                </a:extLst>
              </a:tr>
              <a:tr h="551858">
                <a:tc>
                  <a:txBody>
                    <a:bodyPr/>
                    <a:lstStyle/>
                    <a:p>
                      <a:pPr algn="ctr">
                        <a:lnSpc>
                          <a:spcPct val="115000"/>
                        </a:lnSpc>
                        <a:spcAft>
                          <a:spcPts val="800"/>
                        </a:spcAft>
                        <a:buNone/>
                      </a:pPr>
                      <a:r>
                        <a:rPr lang="en-US" sz="1200" b="1" kern="100">
                          <a:solidFill>
                            <a:srgbClr val="000000"/>
                          </a:solidFill>
                          <a:effectLst/>
                        </a:rPr>
                        <a:t>TC-3</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تعديل الحساب الشخصي</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المستخدم مسجل دخوله</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1.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الانتقال إلى صفحة الحساب الشخصي</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2.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تعديل اسم المستخدم</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3.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حفظ التغييرات</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Admin &gt;&gt; ad</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تحديث اسم المستخدم بنجاح في قاعدة البيانات</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Aft>
                          <a:spcPts val="800"/>
                        </a:spcAft>
                        <a:buNone/>
                      </a:pPr>
                      <a:r>
                        <a:rPr lang="en-US" sz="1200" b="1" kern="100">
                          <a:solidFill>
                            <a:srgbClr val="000000"/>
                          </a:solidFill>
                          <a:effectLst/>
                        </a:rPr>
                        <a:t>done</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extLst>
                  <a:ext uri="{0D108BD9-81ED-4DB2-BD59-A6C34878D82A}">
                    <a16:rowId xmlns:a16="http://schemas.microsoft.com/office/drawing/2014/main" val="662852991"/>
                  </a:ext>
                </a:extLst>
              </a:tr>
              <a:tr h="921774">
                <a:tc>
                  <a:txBody>
                    <a:bodyPr/>
                    <a:lstStyle/>
                    <a:p>
                      <a:pPr algn="ctr">
                        <a:lnSpc>
                          <a:spcPct val="115000"/>
                        </a:lnSpc>
                        <a:spcAft>
                          <a:spcPts val="800"/>
                        </a:spcAft>
                        <a:buNone/>
                      </a:pPr>
                      <a:r>
                        <a:rPr lang="en-US" sz="1200" b="1" kern="100">
                          <a:solidFill>
                            <a:srgbClr val="000000"/>
                          </a:solidFill>
                          <a:effectLst/>
                        </a:rPr>
                        <a:t>TC-4</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عرض الحساب الشخصي</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المستخدم مسجل دخوله</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 </a:t>
                      </a:r>
                      <a:r>
                        <a:rPr lang="ar-SA"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الانتقال إلى صفحة الحساب الشخصي</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عرض جميع بيانات الحساب (الاسم، البريد، رقم الهاتف...)</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Aft>
                          <a:spcPts val="800"/>
                        </a:spcAft>
                        <a:buNone/>
                      </a:pPr>
                      <a:r>
                        <a:rPr lang="en-US" sz="1200" b="1" kern="100">
                          <a:solidFill>
                            <a:srgbClr val="000000"/>
                          </a:solidFill>
                          <a:effectLst/>
                        </a:rPr>
                        <a:t>done</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extLst>
                  <a:ext uri="{0D108BD9-81ED-4DB2-BD59-A6C34878D82A}">
                    <a16:rowId xmlns:a16="http://schemas.microsoft.com/office/drawing/2014/main" val="1232504978"/>
                  </a:ext>
                </a:extLst>
              </a:tr>
              <a:tr h="456455">
                <a:tc>
                  <a:txBody>
                    <a:bodyPr/>
                    <a:lstStyle/>
                    <a:p>
                      <a:pPr algn="ctr">
                        <a:lnSpc>
                          <a:spcPct val="115000"/>
                        </a:lnSpc>
                        <a:spcAft>
                          <a:spcPts val="800"/>
                        </a:spcAft>
                        <a:buNone/>
                      </a:pPr>
                      <a:r>
                        <a:rPr lang="en-US" sz="1200" b="1" kern="100">
                          <a:solidFill>
                            <a:srgbClr val="000000"/>
                          </a:solidFill>
                          <a:effectLst/>
                        </a:rPr>
                        <a:t>TC-5</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عرض قائمة المستخدمين</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المستخدم مسجل دخول</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1.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الانتقال إلى </a:t>
                      </a: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قائمة المستخدمين</a:t>
                      </a: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2.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التصفح في القائمة</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عرض قائمة شاملة بجميع المستخدمين مع التفاصيل الأساسية</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Aft>
                          <a:spcPts val="800"/>
                        </a:spcAft>
                        <a:buNone/>
                      </a:pPr>
                      <a:r>
                        <a:rPr lang="en-US" sz="1200" b="1" kern="100">
                          <a:solidFill>
                            <a:srgbClr val="000000"/>
                          </a:solidFill>
                          <a:effectLst/>
                        </a:rPr>
                        <a:t>done</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extLst>
                  <a:ext uri="{0D108BD9-81ED-4DB2-BD59-A6C34878D82A}">
                    <a16:rowId xmlns:a16="http://schemas.microsoft.com/office/drawing/2014/main" val="3738588271"/>
                  </a:ext>
                </a:extLst>
              </a:tr>
              <a:tr h="363977">
                <a:tc>
                  <a:txBody>
                    <a:bodyPr/>
                    <a:lstStyle/>
                    <a:p>
                      <a:pPr algn="ctr">
                        <a:lnSpc>
                          <a:spcPct val="115000"/>
                        </a:lnSpc>
                        <a:spcAft>
                          <a:spcPts val="800"/>
                        </a:spcAft>
                        <a:buNone/>
                      </a:pPr>
                      <a:r>
                        <a:rPr lang="en-US" sz="1200" b="1" kern="100">
                          <a:solidFill>
                            <a:srgbClr val="000000"/>
                          </a:solidFill>
                          <a:effectLst/>
                        </a:rPr>
                        <a:t>TC-6</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إدارة حسابات جميع المستخدمين</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المستخدم مسجل دخول (مدير)</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1.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اختيار مستخدم من القائمة</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2.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تعديل/حذف الحساب</a:t>
                      </a:r>
                      <a:b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3.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تأكيد الإجراء</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User: "</a:t>
                      </a:r>
                      <a:r>
                        <a:rPr lang="ar-SA"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فادي الرشيد</a:t>
                      </a:r>
                      <a:r>
                        <a:rPr lang="en-US" sz="1050" b="1" kern="100">
                          <a:solidFill>
                            <a:srgbClr val="000000"/>
                          </a:solidFill>
                          <a:effectLst/>
                          <a:latin typeface="Arial" panose="020B0604020202020204" pitchFamily="34" charset="0"/>
                          <a:ea typeface="Calibri" panose="020F0502020204030204" pitchFamily="34" charset="0"/>
                          <a:cs typeface="Arial" panose="020B0604020202020204" pitchFamily="34" charset="0"/>
                        </a:rPr>
                        <a:t>", Action: Approve</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حذف/تعديل الحساب بنجاح، تحديث القائمة</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Aft>
                          <a:spcPts val="800"/>
                        </a:spcAft>
                        <a:buNone/>
                      </a:pPr>
                      <a:r>
                        <a:rPr lang="en-US" sz="1200" b="1" kern="100">
                          <a:solidFill>
                            <a:srgbClr val="000000"/>
                          </a:solidFill>
                          <a:effectLst/>
                        </a:rPr>
                        <a:t>done</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extLst>
                  <a:ext uri="{0D108BD9-81ED-4DB2-BD59-A6C34878D82A}">
                    <a16:rowId xmlns:a16="http://schemas.microsoft.com/office/drawing/2014/main" val="3226400391"/>
                  </a:ext>
                </a:extLst>
              </a:tr>
              <a:tr h="363977">
                <a:tc>
                  <a:txBody>
                    <a:bodyPr/>
                    <a:lstStyle/>
                    <a:p>
                      <a:pPr algn="ctr">
                        <a:lnSpc>
                          <a:spcPct val="115000"/>
                        </a:lnSpc>
                        <a:spcAft>
                          <a:spcPts val="800"/>
                        </a:spcAft>
                        <a:buNone/>
                      </a:pPr>
                      <a:r>
                        <a:rPr lang="en-US" sz="1200" b="1" kern="100">
                          <a:solidFill>
                            <a:srgbClr val="000000"/>
                          </a:solidFill>
                          <a:effectLst/>
                        </a:rPr>
                        <a:t>TC-7</a:t>
                      </a:r>
                      <a:endParaRPr lang="en-US" sz="1200" b="1" kern="10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tc>
                  <a:txBody>
                    <a:bodyPr/>
                    <a:lstStyle/>
                    <a:p>
                      <a:pPr algn="ctr" rtl="1">
                        <a:lnSpc>
                          <a:spcPct val="107000"/>
                        </a:lnSpc>
                        <a:spcAft>
                          <a:spcPts val="800"/>
                        </a:spcAft>
                      </a:pPr>
                      <a:r>
                        <a:rPr lang="ar-SA" sz="105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عرض قائمة المؤتمرات</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المستخدم مسجل دخول</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1. </a:t>
                      </a:r>
                      <a:r>
                        <a:rPr lang="ar-SA"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الانتقال إلى </a:t>
                      </a:r>
                      <a:r>
                        <a:rPr lang="en-US"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r>
                        <a:rPr lang="ar-SA"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قائمة المؤتمرات</a:t>
                      </a:r>
                      <a:r>
                        <a:rPr lang="en-US"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br>
                        <a:rPr lang="en-US"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br>
                      <a:r>
                        <a:rPr lang="en-US"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2. </a:t>
                      </a:r>
                      <a:r>
                        <a:rPr lang="ar-SA"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فلترة حسب التاريخ أو الحالة</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0">
                        <a:lnSpc>
                          <a:spcPct val="107000"/>
                        </a:lnSpc>
                        <a:spcAft>
                          <a:spcPts val="800"/>
                        </a:spcAft>
                      </a:pPr>
                      <a:r>
                        <a:rPr lang="en-US" sz="1050" b="1" kern="100" dirty="0">
                          <a:solidFill>
                            <a:srgbClr val="000000"/>
                          </a:solidFill>
                          <a:effectLst/>
                          <a:latin typeface="Arial" panose="020B0604020202020204" pitchFamily="34" charset="0"/>
                          <a:ea typeface="Calibri" panose="020F0502020204030204" pitchFamily="34" charset="0"/>
                          <a:cs typeface="Arial" panose="020B0604020202020204" pitchFamily="34" charset="0"/>
                        </a:rPr>
                        <a:t>—</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07000"/>
                        </a:lnSpc>
                        <a:spcAft>
                          <a:spcPts val="800"/>
                        </a:spcAft>
                      </a:pPr>
                      <a:r>
                        <a:rPr lang="ar-SA" sz="105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عرض قائمة المؤتمرات مع التفاصيل والفلاتر المتاحة</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a:lnSpc>
                          <a:spcPct val="115000"/>
                        </a:lnSpc>
                        <a:spcAft>
                          <a:spcPts val="800"/>
                        </a:spcAft>
                        <a:buNone/>
                      </a:pPr>
                      <a:r>
                        <a:rPr lang="en-US" sz="1200" b="1" kern="100" dirty="0">
                          <a:solidFill>
                            <a:srgbClr val="000000"/>
                          </a:solidFill>
                          <a:effectLst/>
                        </a:rPr>
                        <a:t>done</a:t>
                      </a:r>
                      <a:endParaRPr lang="en-US" sz="120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endParaRPr>
                    </a:p>
                  </a:txBody>
                  <a:tcPr marL="31842" marR="31842" marT="0" marB="0" anchor="ctr"/>
                </a:tc>
                <a:extLst>
                  <a:ext uri="{0D108BD9-81ED-4DB2-BD59-A6C34878D82A}">
                    <a16:rowId xmlns:a16="http://schemas.microsoft.com/office/drawing/2014/main" val="2636232480"/>
                  </a:ext>
                </a:extLst>
              </a:tr>
            </a:tbl>
          </a:graphicData>
        </a:graphic>
      </p:graphicFrame>
    </p:spTree>
    <p:extLst>
      <p:ext uri="{BB962C8B-B14F-4D97-AF65-F5344CB8AC3E}">
        <p14:creationId xmlns:p14="http://schemas.microsoft.com/office/powerpoint/2010/main" val="10213386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9DCDF-F950-617B-597D-50D86E1D8C07}"/>
            </a:ext>
          </a:extLst>
        </p:cNvPr>
        <p:cNvGrpSpPr/>
        <p:nvPr/>
      </p:nvGrpSpPr>
      <p:grpSpPr>
        <a:xfrm>
          <a:off x="0" y="0"/>
          <a:ext cx="0" cy="0"/>
          <a:chOff x="0" y="0"/>
          <a:chExt cx="0" cy="0"/>
        </a:xfrm>
      </p:grpSpPr>
      <p:sp>
        <p:nvSpPr>
          <p:cNvPr id="2" name="عنوان 1">
            <a:extLst>
              <a:ext uri="{FF2B5EF4-FFF2-40B4-BE49-F238E27FC236}">
                <a16:creationId xmlns:a16="http://schemas.microsoft.com/office/drawing/2014/main" id="{B17878A8-EBFF-9D23-F703-966F7A7D4DAA}"/>
              </a:ext>
            </a:extLst>
          </p:cNvPr>
          <p:cNvSpPr>
            <a:spLocks noGrp="1"/>
          </p:cNvSpPr>
          <p:nvPr>
            <p:ph type="title"/>
          </p:nvPr>
        </p:nvSpPr>
        <p:spPr>
          <a:xfrm>
            <a:off x="1610967" y="734730"/>
            <a:ext cx="9153940" cy="667289"/>
          </a:xfrm>
          <a:prstGeom prst="bracketPair">
            <a:avLst/>
          </a:prstGeom>
          <a:ln/>
        </p:spPr>
        <p:style>
          <a:lnRef idx="2">
            <a:schemeClr val="accent1"/>
          </a:lnRef>
          <a:fillRef idx="1">
            <a:schemeClr val="lt1"/>
          </a:fillRef>
          <a:effectRef idx="0">
            <a:schemeClr val="accent1"/>
          </a:effectRef>
          <a:fontRef idx="minor">
            <a:schemeClr val="dk1"/>
          </a:fontRef>
        </p:style>
        <p:txBody>
          <a:bodyPr>
            <a:normAutofit/>
          </a:bodyPr>
          <a:lstStyle/>
          <a:p>
            <a:pPr algn="ctr"/>
            <a:r>
              <a:rPr lang="en-US" dirty="0"/>
              <a:t>RTM</a:t>
            </a:r>
            <a:endParaRPr lang="ar-AE" dirty="0"/>
          </a:p>
        </p:txBody>
      </p:sp>
      <p:graphicFrame>
        <p:nvGraphicFramePr>
          <p:cNvPr id="3" name="جدول 2">
            <a:extLst>
              <a:ext uri="{FF2B5EF4-FFF2-40B4-BE49-F238E27FC236}">
                <a16:creationId xmlns:a16="http://schemas.microsoft.com/office/drawing/2014/main" id="{AF3F22D6-30D4-4135-8FEA-8F24CD3989A9}"/>
              </a:ext>
            </a:extLst>
          </p:cNvPr>
          <p:cNvGraphicFramePr>
            <a:graphicFrameLocks noGrp="1"/>
          </p:cNvGraphicFramePr>
          <p:nvPr>
            <p:extLst>
              <p:ext uri="{D42A27DB-BD31-4B8C-83A1-F6EECF244321}">
                <p14:modId xmlns:p14="http://schemas.microsoft.com/office/powerpoint/2010/main" val="1353903267"/>
              </p:ext>
            </p:extLst>
          </p:nvPr>
        </p:nvGraphicFramePr>
        <p:xfrm>
          <a:off x="2405062" y="2219325"/>
          <a:ext cx="7381875" cy="4261549"/>
        </p:xfrm>
        <a:graphic>
          <a:graphicData uri="http://schemas.openxmlformats.org/drawingml/2006/table">
            <a:tbl>
              <a:tblPr rtl="1" firstRow="1" firstCol="1" bandRow="1">
                <a:tableStyleId>{BC89EF96-8CEA-46FF-86C4-4CE0E7609802}</a:tableStyleId>
              </a:tblPr>
              <a:tblGrid>
                <a:gridCol w="1438162">
                  <a:extLst>
                    <a:ext uri="{9D8B030D-6E8A-4147-A177-3AD203B41FA5}">
                      <a16:colId xmlns:a16="http://schemas.microsoft.com/office/drawing/2014/main" val="1686448878"/>
                    </a:ext>
                  </a:extLst>
                </a:gridCol>
                <a:gridCol w="1106885">
                  <a:extLst>
                    <a:ext uri="{9D8B030D-6E8A-4147-A177-3AD203B41FA5}">
                      <a16:colId xmlns:a16="http://schemas.microsoft.com/office/drawing/2014/main" val="899384943"/>
                    </a:ext>
                  </a:extLst>
                </a:gridCol>
                <a:gridCol w="1124974">
                  <a:extLst>
                    <a:ext uri="{9D8B030D-6E8A-4147-A177-3AD203B41FA5}">
                      <a16:colId xmlns:a16="http://schemas.microsoft.com/office/drawing/2014/main" val="986914560"/>
                    </a:ext>
                  </a:extLst>
                </a:gridCol>
                <a:gridCol w="1589665">
                  <a:extLst>
                    <a:ext uri="{9D8B030D-6E8A-4147-A177-3AD203B41FA5}">
                      <a16:colId xmlns:a16="http://schemas.microsoft.com/office/drawing/2014/main" val="2166383933"/>
                    </a:ext>
                  </a:extLst>
                </a:gridCol>
                <a:gridCol w="1122715">
                  <a:extLst>
                    <a:ext uri="{9D8B030D-6E8A-4147-A177-3AD203B41FA5}">
                      <a16:colId xmlns:a16="http://schemas.microsoft.com/office/drawing/2014/main" val="3529351588"/>
                    </a:ext>
                  </a:extLst>
                </a:gridCol>
                <a:gridCol w="999474">
                  <a:extLst>
                    <a:ext uri="{9D8B030D-6E8A-4147-A177-3AD203B41FA5}">
                      <a16:colId xmlns:a16="http://schemas.microsoft.com/office/drawing/2014/main" val="1109684775"/>
                    </a:ext>
                  </a:extLst>
                </a:gridCol>
              </a:tblGrid>
              <a:tr h="207228">
                <a:tc>
                  <a:txBody>
                    <a:bodyPr/>
                    <a:lstStyle/>
                    <a:p>
                      <a:pPr algn="ctr" rtl="0">
                        <a:lnSpc>
                          <a:spcPct val="107000"/>
                        </a:lnSpc>
                        <a:spcAft>
                          <a:spcPts val="800"/>
                        </a:spcAft>
                      </a:pPr>
                      <a:r>
                        <a:rPr lang="en-US" sz="1000" kern="100">
                          <a:effectLst/>
                        </a:rPr>
                        <a:t>Detailed Design</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0">
                        <a:lnSpc>
                          <a:spcPct val="107000"/>
                        </a:lnSpc>
                        <a:spcAft>
                          <a:spcPts val="800"/>
                        </a:spcAft>
                      </a:pPr>
                      <a:r>
                        <a:rPr lang="en-US" sz="1000" kern="100">
                          <a:effectLst/>
                        </a:rPr>
                        <a:t>High Level Design</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0">
                        <a:lnSpc>
                          <a:spcPct val="107000"/>
                        </a:lnSpc>
                        <a:spcAft>
                          <a:spcPts val="800"/>
                        </a:spcAft>
                      </a:pPr>
                      <a:r>
                        <a:rPr lang="en-US" sz="1000" kern="100">
                          <a:effectLst/>
                        </a:rPr>
                        <a:t>SRS Section</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0">
                        <a:lnSpc>
                          <a:spcPct val="107000"/>
                        </a:lnSpc>
                        <a:spcAft>
                          <a:spcPts val="800"/>
                        </a:spcAft>
                      </a:pPr>
                      <a:r>
                        <a:rPr lang="en-US" sz="1000" kern="100">
                          <a:effectLst/>
                        </a:rPr>
                        <a:t>Associated Dependency</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0">
                        <a:lnSpc>
                          <a:spcPct val="150000"/>
                        </a:lnSpc>
                        <a:spcAft>
                          <a:spcPts val="800"/>
                        </a:spcAft>
                      </a:pPr>
                      <a:r>
                        <a:rPr lang="en-US" sz="1000" kern="100">
                          <a:effectLst/>
                        </a:rPr>
                        <a:t>Title</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0">
                        <a:lnSpc>
                          <a:spcPct val="150000"/>
                        </a:lnSpc>
                        <a:spcAft>
                          <a:spcPts val="800"/>
                        </a:spcAft>
                      </a:pPr>
                      <a:r>
                        <a:rPr lang="en-US" sz="1000" kern="100">
                          <a:effectLst/>
                        </a:rPr>
                        <a:t>ID</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2641211715"/>
                  </a:ext>
                </a:extLst>
              </a:tr>
              <a:tr h="383374">
                <a:tc>
                  <a:txBody>
                    <a:bodyPr/>
                    <a:lstStyle/>
                    <a:p>
                      <a:pPr algn="ctr" rtl="1">
                        <a:lnSpc>
                          <a:spcPct val="150000"/>
                        </a:lnSpc>
                        <a:spcAft>
                          <a:spcPts val="800"/>
                        </a:spcAft>
                      </a:pPr>
                      <a:r>
                        <a:rPr lang="en-US" sz="1000" u="sng" kern="100" dirty="0">
                          <a:effectLst/>
                        </a:rPr>
                        <a:t>sequence-1</a:t>
                      </a:r>
                      <a:endParaRPr lang="en-US" sz="1000" kern="100" dirty="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en-US" sz="1000" u="sng" kern="100" dirty="0">
                          <a:effectLst/>
                        </a:rPr>
                        <a:t>activity-1</a:t>
                      </a:r>
                      <a:endParaRPr lang="en-US" sz="1000" kern="100" dirty="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تسجيل الدخول</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SA" sz="100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تسجيل الدخول</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dirty="0">
                          <a:effectLst/>
                        </a:rPr>
                        <a:t>REQ-001</a:t>
                      </a:r>
                      <a:endParaRPr lang="en-US" sz="1000" kern="100" dirty="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114381046"/>
                  </a:ext>
                </a:extLst>
              </a:tr>
              <a:tr h="383374">
                <a:tc>
                  <a:txBody>
                    <a:bodyPr/>
                    <a:lstStyle/>
                    <a:p>
                      <a:pPr algn="ctr" rtl="0">
                        <a:lnSpc>
                          <a:spcPct val="150000"/>
                        </a:lnSpc>
                        <a:spcAft>
                          <a:spcPts val="800"/>
                        </a:spcAft>
                      </a:pPr>
                      <a:r>
                        <a:rPr lang="en-US" sz="1000" u="sng" kern="100">
                          <a:effectLst/>
                        </a:rPr>
                        <a:t>sequence-3</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0">
                        <a:lnSpc>
                          <a:spcPct val="150000"/>
                        </a:lnSpc>
                        <a:spcAft>
                          <a:spcPts val="800"/>
                        </a:spcAft>
                      </a:pPr>
                      <a:r>
                        <a:rPr lang="en-US" sz="1000" u="sng" kern="100">
                          <a:effectLst/>
                        </a:rPr>
                        <a:t>activity-3</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التعديل</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AE" sz="100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تعديل الحساب الشخصي</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a:effectLst/>
                        </a:rPr>
                        <a:t>REQ-002</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2534591943"/>
                  </a:ext>
                </a:extLst>
              </a:tr>
              <a:tr h="383374">
                <a:tc>
                  <a:txBody>
                    <a:bodyPr/>
                    <a:lstStyle/>
                    <a:p>
                      <a:pPr algn="ctr" rtl="1">
                        <a:lnSpc>
                          <a:spcPct val="150000"/>
                        </a:lnSpc>
                        <a:spcAft>
                          <a:spcPts val="800"/>
                        </a:spcAft>
                      </a:pPr>
                      <a:r>
                        <a:rPr lang="en-US" sz="1000" u="sng" kern="100">
                          <a:effectLst/>
                        </a:rPr>
                        <a:t>sequence-3</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en-US" sz="1000" u="sng" kern="100">
                          <a:effectLst/>
                        </a:rPr>
                        <a:t>activity-3</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العرض</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AE" sz="100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عرض الحساب الشخصي</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a:effectLst/>
                        </a:rPr>
                        <a:t>REQ-003</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3119599536"/>
                  </a:ext>
                </a:extLst>
              </a:tr>
              <a:tr h="383374">
                <a:tc>
                  <a:txBody>
                    <a:bodyPr/>
                    <a:lstStyle/>
                    <a:p>
                      <a:pPr algn="ctr" rtl="1">
                        <a:lnSpc>
                          <a:spcPct val="150000"/>
                        </a:lnSpc>
                        <a:spcAft>
                          <a:spcPts val="800"/>
                        </a:spcAft>
                      </a:pPr>
                      <a:r>
                        <a:rPr lang="en-US" sz="1000" u="sng" kern="100">
                          <a:effectLst/>
                        </a:rPr>
                        <a:t>sequence-4</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en-US" sz="1000" u="sng" kern="100">
                          <a:effectLst/>
                        </a:rPr>
                        <a:t>activity-4</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العرض</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SA" sz="100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عرض قائمة المستخدمين</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a:effectLst/>
                        </a:rPr>
                        <a:t>REQ-004</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3535462756"/>
                  </a:ext>
                </a:extLst>
              </a:tr>
              <a:tr h="383374">
                <a:tc>
                  <a:txBody>
                    <a:bodyPr/>
                    <a:lstStyle/>
                    <a:p>
                      <a:pPr algn="ctr" rtl="0">
                        <a:lnSpc>
                          <a:spcPct val="150000"/>
                        </a:lnSpc>
                        <a:spcAft>
                          <a:spcPts val="800"/>
                        </a:spcAft>
                      </a:pPr>
                      <a:r>
                        <a:rPr lang="en-US" sz="1000" u="sng" kern="100">
                          <a:effectLst/>
                        </a:rPr>
                        <a:t>sequence-7</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en-US" sz="1000" u="sng" kern="100">
                          <a:effectLst/>
                        </a:rPr>
                        <a:t>activity-7</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العرض</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SA" sz="100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إدارة حسابات جميع المستخدمين</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a:effectLst/>
                        </a:rPr>
                        <a:t>REQ-005</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838499364"/>
                  </a:ext>
                </a:extLst>
              </a:tr>
              <a:tr h="383374">
                <a:tc>
                  <a:txBody>
                    <a:bodyPr/>
                    <a:lstStyle/>
                    <a:p>
                      <a:pPr algn="ctr" rtl="1">
                        <a:lnSpc>
                          <a:spcPct val="150000"/>
                        </a:lnSpc>
                        <a:spcAft>
                          <a:spcPts val="800"/>
                        </a:spcAft>
                      </a:pPr>
                      <a:r>
                        <a:rPr lang="en-US" sz="1000" u="sng" kern="100">
                          <a:effectLst/>
                        </a:rPr>
                        <a:t>sequence-4</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0">
                        <a:lnSpc>
                          <a:spcPct val="150000"/>
                        </a:lnSpc>
                        <a:spcAft>
                          <a:spcPts val="800"/>
                        </a:spcAft>
                      </a:pPr>
                      <a:r>
                        <a:rPr lang="en-US" sz="1000" u="sng" kern="100">
                          <a:effectLst/>
                        </a:rPr>
                        <a:t>activity-4</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العرض</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SA" sz="100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عرض قائمة المؤتمرات</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a:effectLst/>
                        </a:rPr>
                        <a:t>REQ-006</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899058911"/>
                  </a:ext>
                </a:extLst>
              </a:tr>
              <a:tr h="383374">
                <a:tc>
                  <a:txBody>
                    <a:bodyPr/>
                    <a:lstStyle/>
                    <a:p>
                      <a:pPr algn="ctr" rtl="0">
                        <a:lnSpc>
                          <a:spcPct val="150000"/>
                        </a:lnSpc>
                        <a:spcAft>
                          <a:spcPts val="800"/>
                        </a:spcAft>
                      </a:pPr>
                      <a:r>
                        <a:rPr lang="en-US" sz="1000" u="sng" kern="100">
                          <a:effectLst/>
                        </a:rPr>
                        <a:t>sequence-5</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0">
                        <a:lnSpc>
                          <a:spcPct val="150000"/>
                        </a:lnSpc>
                        <a:spcAft>
                          <a:spcPts val="800"/>
                        </a:spcAft>
                      </a:pPr>
                      <a:r>
                        <a:rPr lang="en-US" sz="1000" u="sng" kern="100">
                          <a:effectLst/>
                        </a:rPr>
                        <a:t>activity-5</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العرض</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SA" sz="100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إدارة طلبات المؤتمرات</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a:effectLst/>
                        </a:rPr>
                        <a:t>REQ-007</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1647372166"/>
                  </a:ext>
                </a:extLst>
              </a:tr>
              <a:tr h="383374">
                <a:tc>
                  <a:txBody>
                    <a:bodyPr/>
                    <a:lstStyle/>
                    <a:p>
                      <a:pPr algn="ctr" rtl="0">
                        <a:lnSpc>
                          <a:spcPct val="150000"/>
                        </a:lnSpc>
                        <a:spcAft>
                          <a:spcPts val="800"/>
                        </a:spcAft>
                      </a:pPr>
                      <a:r>
                        <a:rPr lang="en-US" sz="1000" u="sng" kern="100">
                          <a:effectLst/>
                        </a:rPr>
                        <a:t>sequence-10</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en-US" sz="1000" u="sng" kern="100">
                          <a:effectLst/>
                        </a:rPr>
                        <a:t>activity-10</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العرض</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SA" sz="1000" b="1" kern="100">
                          <a:solidFill>
                            <a:srgbClr val="000000"/>
                          </a:solidFill>
                          <a:effectLst/>
                          <a:latin typeface="Calibri" panose="020F0502020204030204" pitchFamily="34" charset="0"/>
                          <a:ea typeface="Calibri" panose="020F0502020204030204" pitchFamily="34" charset="0"/>
                          <a:cs typeface="Arial" panose="020B0604020202020204" pitchFamily="34" charset="0"/>
                        </a:rPr>
                        <a:t>عرض الإحصائيات</a:t>
                      </a:r>
                      <a:endParaRPr lang="en-US" sz="1050" kern="1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a:effectLst/>
                        </a:rPr>
                        <a:t>REQ-008</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2001645547"/>
                  </a:ext>
                </a:extLst>
              </a:tr>
              <a:tr h="383374">
                <a:tc>
                  <a:txBody>
                    <a:bodyPr/>
                    <a:lstStyle/>
                    <a:p>
                      <a:pPr algn="ctr" rtl="1">
                        <a:lnSpc>
                          <a:spcPct val="150000"/>
                        </a:lnSpc>
                        <a:spcAft>
                          <a:spcPts val="800"/>
                        </a:spcAft>
                      </a:pPr>
                      <a:r>
                        <a:rPr lang="en-US" sz="1000" u="sng" kern="100">
                          <a:effectLst/>
                        </a:rPr>
                        <a:t>sequence-9</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en-US" sz="1000" u="sng" kern="100">
                          <a:effectLst/>
                        </a:rPr>
                        <a:t>activity-9</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kern="100">
                          <a:effectLst/>
                        </a:rPr>
                        <a:t>الدراسة التحليلية، المتطلبات الوظيفية</a:t>
                      </a:r>
                      <a:endParaRPr lang="en-US" sz="1000" kern="10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tc>
                  <a:txBody>
                    <a:bodyPr/>
                    <a:lstStyle/>
                    <a:p>
                      <a:pPr algn="ctr" rtl="1">
                        <a:lnSpc>
                          <a:spcPct val="150000"/>
                        </a:lnSpc>
                        <a:spcAft>
                          <a:spcPts val="800"/>
                        </a:spcAft>
                      </a:pPr>
                      <a:r>
                        <a:rPr lang="ar-SA" sz="1000" b="1" kern="100" dirty="0">
                          <a:solidFill>
                            <a:srgbClr val="191970"/>
                          </a:solidFill>
                          <a:effectLst/>
                          <a:latin typeface="Calibri" panose="020F0502020204030204" pitchFamily="34" charset="0"/>
                          <a:ea typeface="Calibri" panose="020F0502020204030204" pitchFamily="34" charset="0"/>
                          <a:cs typeface="Arial" panose="020B0604020202020204" pitchFamily="34" charset="0"/>
                        </a:rPr>
                        <a:t>تابع التصدير</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ar-SA" sz="1000" b="1" kern="100" dirty="0">
                          <a:solidFill>
                            <a:srgbClr val="000000"/>
                          </a:solidFill>
                          <a:effectLst/>
                          <a:latin typeface="Calibri" panose="020F0502020204030204" pitchFamily="34" charset="0"/>
                          <a:ea typeface="Calibri" panose="020F0502020204030204" pitchFamily="34" charset="0"/>
                          <a:cs typeface="Arial" panose="020B0604020202020204" pitchFamily="34" charset="0"/>
                        </a:rPr>
                        <a:t>تصدير التقارير</a:t>
                      </a:r>
                      <a:endParaRPr lang="en-US" sz="1050" kern="1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ctr" rtl="1">
                        <a:lnSpc>
                          <a:spcPct val="150000"/>
                        </a:lnSpc>
                        <a:spcAft>
                          <a:spcPts val="800"/>
                        </a:spcAft>
                      </a:pPr>
                      <a:r>
                        <a:rPr lang="en-US" sz="1000" kern="0" dirty="0">
                          <a:effectLst/>
                        </a:rPr>
                        <a:t>REQ-009</a:t>
                      </a:r>
                      <a:endParaRPr lang="en-US" sz="1000" kern="100" dirty="0">
                        <a:effectLst/>
                        <a:latin typeface="Calibri" panose="020F0502020204030204" pitchFamily="34" charset="0"/>
                        <a:ea typeface="Calibri" panose="020F0502020204030204" pitchFamily="34" charset="0"/>
                        <a:cs typeface="Arial" panose="020B0604020202020204" pitchFamily="34" charset="0"/>
                      </a:endParaRPr>
                    </a:p>
                  </a:txBody>
                  <a:tcPr marL="28472" marR="28472" marT="0" marB="0" anchor="ctr"/>
                </a:tc>
                <a:extLst>
                  <a:ext uri="{0D108BD9-81ED-4DB2-BD59-A6C34878D82A}">
                    <a16:rowId xmlns:a16="http://schemas.microsoft.com/office/drawing/2014/main" val="1490145204"/>
                  </a:ext>
                </a:extLst>
              </a:tr>
            </a:tbl>
          </a:graphicData>
        </a:graphic>
      </p:graphicFrame>
    </p:spTree>
    <p:extLst>
      <p:ext uri="{BB962C8B-B14F-4D97-AF65-F5344CB8AC3E}">
        <p14:creationId xmlns:p14="http://schemas.microsoft.com/office/powerpoint/2010/main" val="302477632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صورة 2">
            <a:extLst>
              <a:ext uri="{FF2B5EF4-FFF2-40B4-BE49-F238E27FC236}">
                <a16:creationId xmlns:a16="http://schemas.microsoft.com/office/drawing/2014/main" id="{5085E842-4C6C-4E43-8202-D13D56FFA558}"/>
              </a:ext>
            </a:extLst>
          </p:cNvPr>
          <p:cNvPicPr>
            <a:picLocks noChangeAspect="1"/>
          </p:cNvPicPr>
          <p:nvPr/>
        </p:nvPicPr>
        <p:blipFill rotWithShape="1">
          <a:blip r:embed="rId2"/>
          <a:srcRect t="3846"/>
          <a:stretch/>
        </p:blipFill>
        <p:spPr>
          <a:xfrm>
            <a:off x="2291583" y="928687"/>
            <a:ext cx="7608833" cy="5000625"/>
          </a:xfrm>
          <a:prstGeom prst="rect">
            <a:avLst/>
          </a:prstGeom>
        </p:spPr>
      </p:pic>
    </p:spTree>
    <p:extLst>
      <p:ext uri="{BB962C8B-B14F-4D97-AF65-F5344CB8AC3E}">
        <p14:creationId xmlns:p14="http://schemas.microsoft.com/office/powerpoint/2010/main" val="344576918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صورة 1">
            <a:extLst>
              <a:ext uri="{FF2B5EF4-FFF2-40B4-BE49-F238E27FC236}">
                <a16:creationId xmlns:a16="http://schemas.microsoft.com/office/drawing/2014/main" id="{FE0482D1-804C-4451-A287-A98087E69842}"/>
              </a:ext>
            </a:extLst>
          </p:cNvPr>
          <p:cNvPicPr/>
          <p:nvPr/>
        </p:nvPicPr>
        <p:blipFill>
          <a:blip r:embed="rId2"/>
          <a:stretch>
            <a:fillRect/>
          </a:stretch>
        </p:blipFill>
        <p:spPr>
          <a:xfrm>
            <a:off x="3306127" y="1270317"/>
            <a:ext cx="5579745" cy="4317365"/>
          </a:xfrm>
          <a:prstGeom prst="rect">
            <a:avLst/>
          </a:prstGeom>
        </p:spPr>
      </p:pic>
    </p:spTree>
    <p:extLst>
      <p:ext uri="{BB962C8B-B14F-4D97-AF65-F5344CB8AC3E}">
        <p14:creationId xmlns:p14="http://schemas.microsoft.com/office/powerpoint/2010/main" val="4773811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صورة 2">
            <a:extLst>
              <a:ext uri="{FF2B5EF4-FFF2-40B4-BE49-F238E27FC236}">
                <a16:creationId xmlns:a16="http://schemas.microsoft.com/office/drawing/2014/main" id="{FD4C795C-1DBC-49C8-A472-E95EA577B70D}"/>
              </a:ext>
            </a:extLst>
          </p:cNvPr>
          <p:cNvPicPr/>
          <p:nvPr/>
        </p:nvPicPr>
        <p:blipFill>
          <a:blip r:embed="rId2"/>
          <a:stretch>
            <a:fillRect/>
          </a:stretch>
        </p:blipFill>
        <p:spPr>
          <a:xfrm>
            <a:off x="3306127" y="1541780"/>
            <a:ext cx="5579745" cy="3774440"/>
          </a:xfrm>
          <a:prstGeom prst="rect">
            <a:avLst/>
          </a:prstGeom>
        </p:spPr>
      </p:pic>
    </p:spTree>
    <p:extLst>
      <p:ext uri="{BB962C8B-B14F-4D97-AF65-F5344CB8AC3E}">
        <p14:creationId xmlns:p14="http://schemas.microsoft.com/office/powerpoint/2010/main" val="33748665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المقسوم">
  <a:themeElements>
    <a:clrScheme name="المقسوم">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المقسوم">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المقسوم">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docProps/app.xml><?xml version="1.0" encoding="utf-8"?>
<Properties xmlns="http://schemas.openxmlformats.org/officeDocument/2006/extended-properties" xmlns:vt="http://schemas.openxmlformats.org/officeDocument/2006/docPropsVTypes">
  <Template>المقسوم</Template>
  <TotalTime>1008</TotalTime>
  <Words>1533</Words>
  <Application>Microsoft Office PowerPoint</Application>
  <PresentationFormat>شاشة عريضة</PresentationFormat>
  <Paragraphs>321</Paragraphs>
  <Slides>22</Slides>
  <Notes>0</Notes>
  <HiddenSlides>0</HiddenSlides>
  <MMClips>0</MMClips>
  <ScaleCrop>false</ScaleCrop>
  <HeadingPairs>
    <vt:vector size="6" baseType="variant">
      <vt:variant>
        <vt:lpstr>الخطوط المستخدمة</vt:lpstr>
      </vt:variant>
      <vt:variant>
        <vt:i4>8</vt:i4>
      </vt:variant>
      <vt:variant>
        <vt:lpstr>نسق</vt:lpstr>
      </vt:variant>
      <vt:variant>
        <vt:i4>1</vt:i4>
      </vt:variant>
      <vt:variant>
        <vt:lpstr>عناوين الشرائح</vt:lpstr>
      </vt:variant>
      <vt:variant>
        <vt:i4>22</vt:i4>
      </vt:variant>
    </vt:vector>
  </HeadingPairs>
  <TitlesOfParts>
    <vt:vector size="31" baseType="lpstr">
      <vt:lpstr>Arial</vt:lpstr>
      <vt:lpstr>Calibri</vt:lpstr>
      <vt:lpstr>Courier New</vt:lpstr>
      <vt:lpstr>Gill Sans MT</vt:lpstr>
      <vt:lpstr>Simplified Arabic</vt:lpstr>
      <vt:lpstr>Symbol</vt:lpstr>
      <vt:lpstr>Times New Roman</vt:lpstr>
      <vt:lpstr>Wingdings 2</vt:lpstr>
      <vt:lpstr>المقسوم</vt:lpstr>
      <vt:lpstr>عرض تقديمي في PowerPoint</vt:lpstr>
      <vt:lpstr>أهمية المشروع</vt:lpstr>
      <vt:lpstr>هدف المشروع</vt:lpstr>
      <vt:lpstr>الدراسة المرجعية</vt:lpstr>
      <vt:lpstr>المتطلبات العامة</vt:lpstr>
      <vt:lpstr>المتطلبات العامة</vt:lpstr>
      <vt:lpstr>عرض تقديمي في PowerPoint</vt:lpstr>
      <vt:lpstr>منهجية المشروع</vt:lpstr>
      <vt:lpstr>عرض تقديمي في PowerPoint</vt:lpstr>
      <vt:lpstr>معمارية المشروع</vt:lpstr>
      <vt:lpstr>أدوات المشروع</vt:lpstr>
      <vt:lpstr>عرض تقديمي في PowerPoint</vt:lpstr>
      <vt:lpstr>توصيف متطلب إدارة حسابات المستخدمين</vt:lpstr>
      <vt:lpstr>مخطط النشاط لعملية إدارة حسابات المستخدمين</vt:lpstr>
      <vt:lpstr>مخطط التسلسل لعملية إدارة حسابات المستخدمين</vt:lpstr>
      <vt:lpstr>CLASS Diagram</vt:lpstr>
      <vt:lpstr>ERD</vt:lpstr>
      <vt:lpstr>Test Cases</vt:lpstr>
      <vt:lpstr>RTM</vt:lpstr>
      <vt:lpstr>عرض تقديمي في PowerPoint</vt:lpstr>
      <vt:lpstr>عرض تقديمي في PowerPoint</vt:lpstr>
      <vt:lpstr>عرض تقديمي في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عرض تقديمي في PowerPoint</dc:title>
  <dc:creator>belal haidar</dc:creator>
  <cp:lastModifiedBy>belal haidar</cp:lastModifiedBy>
  <cp:revision>767</cp:revision>
  <dcterms:created xsi:type="dcterms:W3CDTF">2024-04-25T09:30:05Z</dcterms:created>
  <dcterms:modified xsi:type="dcterms:W3CDTF">2026-01-05T11:47:59Z</dcterms:modified>
</cp:coreProperties>
</file>